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8.png"/><Relationship Id="rId4" Type="http://schemas.openxmlformats.org/officeDocument/2006/relationships/image" Target="../media/image1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887" y="2075557"/>
            <a:ext cx="2562225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5552" y="2608957"/>
            <a:ext cx="716089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RFID Smart Access &amp;</a:t>
            </a:r>
            <a:r>
              <a:t>
</a:t>
            </a:r>
            <a:r>
              <a:rPr b="1" sz="4200" i="0" u="none">
                <a:solidFill>
                  <a:srgbClr val="FFFFFF"/>
                </a:solidFill>
                <a:latin typeface="Space Grotesk"/>
              </a:rPr>
              <a:t> Attendance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6050" y="3925192"/>
            <a:ext cx="6819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Plus Jakarta Sans Medium"/>
              </a:rPr>
              <a:t>ESP8266 • RC522 • LCD 16X2 • BUZZER • LEDS • JUMPER WIRES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862" y="2170807"/>
            <a:ext cx="147637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537" y="4587180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712" y="2243137"/>
            <a:ext cx="1552575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32867" y="2528887"/>
            <a:ext cx="512626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FFFFF"/>
                </a:solidFill>
                <a:latin typeface="Space Grotesk"/>
              </a:rPr>
              <a:t>System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90962"/>
            <a:ext cx="6667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Combining wireless frequency identification, microcontrollers, and multi-modal feedback for next-gen physical security.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112" y="2328862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35968"/>
            <a:ext cx="5324475" cy="3509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35968"/>
            <a:ext cx="5324475" cy="35099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350293"/>
            <a:ext cx="4930616" cy="295275"/>
          </a:xfrm>
          <a:prstGeom prst="rect">
            <a:avLst/>
          </a:prstGeom>
          <a:noFill/>
        </p:spPr>
        <p:txBody>
          <a:bodyPr wrap="square" lIns="22413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2D3EE"/>
                </a:solidFill>
                <a:latin typeface="Space Grotesk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825" y="2350293"/>
            <a:ext cx="4930616" cy="295275"/>
          </a:xfrm>
          <a:prstGeom prst="rect">
            <a:avLst/>
          </a:prstGeom>
          <a:noFill/>
        </p:spPr>
        <p:txBody>
          <a:bodyPr wrap="square" lIns="22413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2D3EE"/>
                </a:solidFill>
                <a:latin typeface="Space Grotesk"/>
              </a:rPr>
              <a:t>Project Objectives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378868"/>
            <a:ext cx="22413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2050" y="2759868"/>
            <a:ext cx="442912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Manual Logging Issues: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Paper-based attendance registries are slow, vulnerable to proxy entries, and prone to human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3670101"/>
            <a:ext cx="44291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Lack of Real-Time Audit: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Traditional mechanical keys offer zero digital audit trail or real-time entry monitoring.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4321373"/>
            <a:ext cx="442912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No Visual/Audio Status: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Basic RFID readers lack clear onboard visual status displays and audio confirmations for users.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378868"/>
            <a:ext cx="22413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67525" y="2759868"/>
            <a:ext cx="44291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Instant UID Authentication: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Securely read and parse 13.56 MHz RFID tags using the MFRC522 module under 300ms.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3411140"/>
            <a:ext cx="44291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Clear Character Display: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Provide real-time operational feedback using an LCD 16x2 display (via I2C interface).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4062412"/>
            <a:ext cx="442912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Audio-Visual Feedback: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Trigger instant Green/Red LED indicators and active piezo buzzer beeps upon scanning.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Problem Statement &amp; Objectives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2778918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3689151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4340423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2778918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430190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4081462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85912"/>
            <a:ext cx="3524250" cy="20907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585912"/>
            <a:ext cx="3524250" cy="20907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1585912"/>
            <a:ext cx="3524250" cy="2090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905250"/>
            <a:ext cx="3524250" cy="20907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3905250"/>
            <a:ext cx="3524250" cy="20907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725" y="3905250"/>
            <a:ext cx="3524250" cy="20907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1824037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2471737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ESP8266 NodeMCU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795587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Main 32-bit Wi-Fi MCU driving system logic, processing tag UIDs, and enabling cloud logging capability.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824037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2471737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RC522 RFID 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95587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13.56 MHz High-frequency contactless transceiver module communicating via SPI protocol.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4850" y="1824037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4850" y="2471737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LCD 16x2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850" y="2795587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Alphanumeric display with I2C backpack for real-time status alerts ("Access Granted / Denied").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4143375"/>
            <a:ext cx="476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9150" y="4791075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Active Buzzer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5114925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Provides distinct frequency tone alerts for successful scans vs unauthorized intrusion attempts.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4143375"/>
            <a:ext cx="476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0" y="4791075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Status LEDs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14925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Dual LED indicators (Green for Granted, Red for Denied) giving instant visual status at a glance.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4850" y="4143375"/>
            <a:ext cx="476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24850" y="4791075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Jumper Wires &amp; 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4850" y="5114925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High-grade Dupont Male-to-Female/Male-to-Male jumper wires ensuring stable SPI, I2C, and GPIO links.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" y="1957387"/>
            <a:ext cx="266700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1062" y="1957387"/>
            <a:ext cx="238125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3912" y="1957387"/>
            <a:ext cx="238125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925" y="4276725"/>
            <a:ext cx="26670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29162" y="4276725"/>
            <a:ext cx="161925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29625" y="4276725"/>
            <a:ext cx="26670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Core Hardware Architecture Stack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1200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81200"/>
            <a:ext cx="53244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The </a:t>
            </a:r>
            <a:r>
              <a:rPr b="1" sz="1275" i="0" u="none">
                <a:solidFill>
                  <a:srgbClr val="E2E8F0"/>
                </a:solidFill>
                <a:latin typeface="Plus Jakarta Sans"/>
              </a:rPr>
              <a:t>ESP8266 NodeMCU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serves as the brain of the access control system, managing peripheral communication and Wi-Fi network telemetry.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872382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Processor Core: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Tensilica L106 32-bit RISC microprocessor running at 80/160 MHz.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23654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Wireless Networking: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Integrated 802.11 b/g/n Wi-Fi transceiver for IoT cloud syncing.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174926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Peripheral Support: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Hardware SPI for RC522, I2C for LCD 16x2, and general GPIOs for signaling.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826198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Operating Voltage: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3.3V power domain with built-in USB power regulator.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105025"/>
            <a:ext cx="5076825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Microcontroller: ESP8266 NodeMCU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91432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42704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93976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845248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1200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81200"/>
            <a:ext cx="53244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The </a:t>
            </a:r>
            <a:r>
              <a:rPr b="1" sz="1275" i="0" u="none">
                <a:solidFill>
                  <a:srgbClr val="E2E8F0"/>
                </a:solidFill>
                <a:latin typeface="Plus Jakarta Sans"/>
              </a:rPr>
              <a:t>MFRC522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is a highly integrated contactless reader/writer IC operating on the 13.56 MHz communication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613421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Operating Frequency: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13.56 MHz ISO/IEC 14443 A / MIFARE standard.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264693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Host Interface: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SPI (Serial Peripheral Interface) for high-speed data transfer to ESP8266.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915965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Read Range: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Up to 50mm distance, ideal for quick contactless card swipes.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567237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UID Parsing: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Extracts unique 4-byte or 7-byte factory hardware identification codes.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105025"/>
            <a:ext cx="5076825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RFID Sensing: MFRC522 Transceiver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32471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83743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35015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586287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1200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81200"/>
            <a:ext cx="53244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The </a:t>
            </a:r>
            <a:r>
              <a:rPr b="1" sz="1275" i="0" u="none">
                <a:solidFill>
                  <a:srgbClr val="E2E8F0"/>
                </a:solidFill>
                <a:latin typeface="Plus Jakarta Sans"/>
              </a:rPr>
              <a:t>LCD 16x2 character display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provides explicit user feedback at the entryway, displaying welcome messages or access rejection warnings.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872382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Display Capacity: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16 characters across 2 rows with adjustable LED backlighting.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23654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I2C Serial Adapter: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Utilizes PCF8574 I2C expansion module to reduce pin usage from 6 GPIOs down to just 2 lines (SDA &amp; SCL).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174926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Dynamic Text Refresh: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Instantly displays user name upon authorization or "Access Denied" for unknown UIDs.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826198"/>
            <a:ext cx="50577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E2E8F0"/>
                </a:solidFill>
                <a:latin typeface="Plus Jakarta Sans"/>
              </a:rPr>
              <a:t>Low Power Consumption:</a:t>
            </a:r>
            <a:r>
              <a:rPr b="0" sz="1275" i="0" u="none">
                <a:solidFill>
                  <a:srgbClr val="94A3B8"/>
                </a:solidFill>
                <a:latin typeface="Plus Jakarta Sans"/>
              </a:rPr>
              <a:t> Consumes minimal current, making it ideal for continuous wall-mounted entry stations.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105025"/>
            <a:ext cx="5076825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Visual Interface: LCD 16x2 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91432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42704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93976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845248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90698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Hardware Interfacing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1025" y="2618630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Jumper Wires &amp; Circuit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028205"/>
            <a:ext cx="532447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Reliable hardware connections are critical for high-speed SPI signal integrity and low noise. High-grade Dupont jumper wires link the ESP8266 controller to the RC522 RFID reader, LCD 16x2 display, active buzzer, and LED indicators.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117627"/>
            <a:ext cx="53244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Common ground planes and regulated 3.3V/5V rails prevent voltage spikes and signal drops during active RFID card detection and buzzer sound triggering.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71675"/>
            <a:ext cx="11029950" cy="363840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1981200"/>
          <a:ext cx="11010898" cy="3619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08584"/>
                <a:gridCol w="2379017"/>
                <a:gridCol w="3948410"/>
                <a:gridCol w="2674887"/>
              </a:tblGrid>
              <a:tr h="6032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Space Grotesk"/>
                        </a:rPr>
                        <a:t>Peripheral 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Space Grotesk"/>
                        </a:rPr>
                        <a:t>Module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Space Grotesk"/>
                        </a:rPr>
                        <a:t>ESP8266 GPIO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Space Grotesk"/>
                        </a:rPr>
                        <a:t>Communication Protocol /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32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RC522 RFID Reader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SDA (SS) / SCK / MOSI / MISO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GPIO15 (D8) / GPIO14 (D5) / GPIO13 (D7) / GPIO12 (D6)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SPI Protocol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32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RC522 RFID Reader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RST (Reset) / GND / 3.3V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GPIO0 (D3) / GND / 3.3V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Power &amp;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2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LCD 16x2 Display (I2C)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SDA / SCL / VCC / GND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GPIO4 (D2) / GPIO5 (D1) / 5V / GND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I2C (0x27 / 0x3F)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32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Active Buzzer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Positive (+) Pin / GND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GPIO2 (D4) / GND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Digital Output (PWM Tone)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22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Green &amp; Red LEDs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Anodes (+) via 220Ω / GND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GPIO16 (D0) &amp; GPIO0 (D3) / GND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Digital GPIO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764035"/>
            <a:ext cx="200858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99134" y="2764035"/>
            <a:ext cx="2379017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78151" y="2764035"/>
            <a:ext cx="394841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26562" y="2764035"/>
            <a:ext cx="2674887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511748"/>
            <a:ext cx="2008584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99134" y="3511748"/>
            <a:ext cx="237901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78151" y="3511748"/>
            <a:ext cx="3948410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26562" y="3511748"/>
            <a:ext cx="267488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4016573"/>
            <a:ext cx="2008584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9134" y="4016573"/>
            <a:ext cx="237901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78151" y="4016573"/>
            <a:ext cx="3948410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26562" y="4016573"/>
            <a:ext cx="267488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550" y="4586138"/>
            <a:ext cx="2008584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9134" y="4586138"/>
            <a:ext cx="237901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8151" y="4586138"/>
            <a:ext cx="3948410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6562" y="4586138"/>
            <a:ext cx="267488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0550" y="5090963"/>
            <a:ext cx="2008584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9134" y="5090963"/>
            <a:ext cx="237901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78151" y="5090963"/>
            <a:ext cx="3948410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26562" y="5090963"/>
            <a:ext cx="267488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7062" y="3007816"/>
            <a:ext cx="923925" cy="29334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062" y="4164210"/>
            <a:ext cx="1247775" cy="2933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Pin Interfacing &amp; Mapping 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962400"/>
            <a:ext cx="1102995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267200"/>
            <a:ext cx="2536775" cy="11197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33" y="2575917"/>
            <a:ext cx="2536775" cy="11197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42" y="4267200"/>
            <a:ext cx="2536775" cy="11197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050" y="2575917"/>
            <a:ext cx="2536775" cy="11197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7626" y="4429125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1. Card Swipe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705350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User taps 13.56 MHz card near RC522. RFID reader energizes tag and extracts unique hardware UID.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635" y="2737842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2. UID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3014067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ESP8266 receives UID via SPI and checks against authorized memory database or database server.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644" y="4429125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3. LCD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705350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LCD 16x2 via I2C displays "Access Granted: Name" or "Access Denied: Invalid Card".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652" y="2737842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4. Audio-Visual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3014067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ESP8266 triggers Green LED + single short beep for authorized entry, or Red LED + long alarm beep.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4162" y="3886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5171" y="3886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6179" y="3886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7188" y="3886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System Operational Sequence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11029950" cy="516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922639"/>
            <a:ext cx="11029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1" u="none">
                <a:solidFill>
                  <a:srgbClr val="94A3B8"/>
                </a:solidFill>
                <a:latin typeface="Plus Jakarta Sans"/>
              </a:rPr>
              <a:t>The RFID + ESP8266 architecture achieves sub-second contactless verification (0.4s average authentication delay), drastically reducing entryway queues.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System Speed &amp; Efficiency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11029950" cy="516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6362" y="5375969"/>
            <a:ext cx="94392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1" u="none">
                <a:solidFill>
                  <a:srgbClr val="94A3B8"/>
                </a:solidFill>
                <a:latin typeface="Plus Jakarta Sans"/>
              </a:rPr>
              <a:t>Real-world operational telemetry showing fast local decision making with background cloud attendance logging over Wi-Fi.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Access Verification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5575"/>
            <a:ext cx="5324475" cy="219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3086100"/>
            <a:ext cx="492442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  <a:defRPr/>
            </a:pPr>
            <a:r>
              <a:rPr b="1" sz="8250" i="0" u="none">
                <a:solidFill>
                  <a:srgbClr val="22D3EE"/>
                </a:solidFill>
                <a:latin typeface="Space Grotesk"/>
              </a:rPr>
              <a:t>&lt;0.5s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4229100"/>
            <a:ext cx="49244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Total Scan-to-Alert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95575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Reliable &amp; Low-Cost Embedded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05150"/>
            <a:ext cx="53244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By leveraging the ESP8266's fast hardware SPI and hardware I2C modules alongside dedicated digital interrupt pins, the system guarantees zero user lag during peak access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96332"/>
            <a:ext cx="53244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Dual feedback via the 16x2 LCD display and active buzzer ensures zero ambiguity for users attempting entry.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Key Performance Highlights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45581"/>
            <a:ext cx="3524250" cy="20907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745581"/>
            <a:ext cx="3524250" cy="20907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745581"/>
            <a:ext cx="3524250" cy="2090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83706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631406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Corporate Office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95525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Automated staff clock-in/clock-out tracking with instant digital logging and monthly attendance reporting.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983706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631406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Research Lab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5525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Restricted access control allowing only authorized personnel into high-containment chemical or server rooms.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983706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4850" y="3631406"/>
            <a:ext cx="3200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School &amp; University Halls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95525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Classroom and examination hall attendance tracking, replacing manual roll calls with contactless RFID tapping.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3117056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775" y="3117056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9625" y="3117056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Real-World Deployment Use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87" y="4305151"/>
            <a:ext cx="3171825" cy="466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2085975"/>
            <a:ext cx="11581447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105150"/>
            <a:ext cx="11029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Thank you for your time and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583185"/>
            <a:ext cx="11029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IoT &amp; Embedded Systems • RFID Access &amp; Attendance System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362" y="4467076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9225" y="2226171"/>
            <a:ext cx="93535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9225" y="3010941"/>
            <a:ext cx="93535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9225" y="3795712"/>
            <a:ext cx="93535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9225" y="3001416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9225" y="3001416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9225" y="378618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9225" y="378618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9225" y="4570958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9225" y="4570958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2375594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14600" y="2369046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https://www.make-it.ca/wp-content/uploads/2021/09/nodemcu-esp8266-small-162x300-1.jpg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14761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www.make-it.ca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225" y="316036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4600" y="3153816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https://lastminuteengineers.com/wp-content/uploads/arduino/RC522-RFID-Reader-Writer-Module-with-Tag-Card-and-FOB-Key-Tag.jpg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399532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lastminuteengineers.com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25" y="394513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14600" y="3938587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https://sharvielectronics.com/wp-content/uploads/2020/02/16%C3%972-LCD-Display-Blue-Backlight1.jpg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84302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sharvielectronics.com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9225" y="4729906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14600" y="4723358"/>
            <a:ext cx="82581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https://diysmartlab.com/wp-content/uploads/2026/05/jumper-wires-.webp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969073"/>
            <a:ext cx="82581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diysmartlab.com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025" y="92392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