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ebp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6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5" r:id="rId11"/>
    <p:sldId id="266" r:id="rId12"/>
    <p:sldId id="268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37" autoAdjust="0"/>
  </p:normalViewPr>
  <p:slideViewPr>
    <p:cSldViewPr snapToGrid="0">
      <p:cViewPr varScale="1">
        <p:scale>
          <a:sx n="103" d="100"/>
          <a:sy n="103" d="100"/>
        </p:scale>
        <p:origin x="874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4c3c2da5edeea2a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4c3c2da5edeea2a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4c3c2da5edeea2a6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4c3c2da5edeea2a6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4c3c2da5edeea2a6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4c3c2da5edeea2a6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4edce14ae16d0c3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4edce14ae16d0c3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d318eef4be5928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d318eef4be5928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45bc81b5f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45bc81b5f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984718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96504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57837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932637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820825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960556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712068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42A54C80-263E-416B-A8E0-580EDEADCBDC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67945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761633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415520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089313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36339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0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639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</p:sldLayoutIdLst>
  <p:hf sldNum="0"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webp"/><Relationship Id="rId5" Type="http://schemas.openxmlformats.org/officeDocument/2006/relationships/image" Target="../media/image5.jpg"/><Relationship Id="rId4" Type="http://schemas.openxmlformats.org/officeDocument/2006/relationships/image" Target="../media/image4.web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-768531" y="-182808"/>
            <a:ext cx="6881948" cy="242145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Algerian" panose="04020705040A02060702" pitchFamily="82" charset="0"/>
              </a:rPr>
              <a:t> Assistive         Technology</a:t>
            </a:r>
            <a:endParaRPr dirty="0">
              <a:latin typeface="Algerian" panose="04020705040A02060702" pitchFamily="82" charset="0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870758" y="2238648"/>
            <a:ext cx="7543800" cy="19284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GB" sz="6000" dirty="0">
                <a:solidFill>
                  <a:schemeClr val="dk1"/>
                </a:solidFill>
                <a:latin typeface="Algerian" panose="04020705040A02060702" pitchFamily="82" charset="0"/>
              </a:rPr>
              <a:t>blind people</a:t>
            </a:r>
            <a:endParaRPr sz="6000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868350" y="438446"/>
            <a:ext cx="7963949" cy="7436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>
                <a:latin typeface="Algerian" panose="04020705040A02060702" pitchFamily="82" charset="0"/>
              </a:rPr>
              <a:t>INTRODUCTION </a:t>
            </a:r>
            <a:endParaRPr sz="3200" dirty="0">
              <a:latin typeface="Algerian" panose="04020705040A02060702" pitchFamily="82" charset="0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513036"/>
            <a:ext cx="8520600" cy="30920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</a:rPr>
              <a:t>Assistive technology helps blind and visually impaired people perform daily activities independently.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</a:rPr>
              <a:t>It improves mobility, safety, communication, and accessibility.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</a:rPr>
              <a:t>Smart devices use sensors and microcontrollers to detect obstacles and provide alerts.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</a:rPr>
              <a:t>Voice guidance and buzzer or vibration alerts help users move safely.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 dirty="0">
                <a:solidFill>
                  <a:schemeClr val="dk1"/>
                </a:solidFill>
              </a:rPr>
              <a:t>These technologies reduce dependence on others and increase confidence.</a:t>
            </a:r>
            <a:endParaRPr sz="20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703890" y="445025"/>
            <a:ext cx="812840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>
                <a:latin typeface="Algerian" panose="04020705040A02060702" pitchFamily="82" charset="0"/>
              </a:rPr>
              <a:t>Problem faced by blind people </a:t>
            </a:r>
            <a:br>
              <a:rPr lang="en-GB" sz="3200" dirty="0">
                <a:latin typeface="Algerian" panose="04020705040A02060702" pitchFamily="82" charset="0"/>
              </a:rPr>
            </a:br>
            <a:br>
              <a:rPr lang="en-GB" sz="3200" dirty="0">
                <a:latin typeface="Algerian" panose="04020705040A02060702" pitchFamily="82" charset="0"/>
              </a:rPr>
            </a:br>
            <a:endParaRPr sz="3200" dirty="0">
              <a:latin typeface="Algerian" panose="04020705040A02060702" pitchFamily="82" charset="0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571501" y="1384032"/>
            <a:ext cx="6777900" cy="350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/>
              <a:t>Difficulty detecting obstacles while walking.</a:t>
            </a:r>
            <a:endParaRPr sz="2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/>
              <a:t>Higher risk of accidents and falls.</a:t>
            </a:r>
            <a:endParaRPr sz="2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/>
              <a:t>Challenges in navigating unfamiliar places.</a:t>
            </a:r>
            <a:endParaRPr sz="2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/>
              <a:t>Inability to read printed text without assistance.</a:t>
            </a:r>
            <a:endParaRPr sz="2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/>
              <a:t>Difficulty recognizing objects, people, and currency.</a:t>
            </a:r>
            <a:endParaRPr sz="2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/>
              <a:t>Dependence on others for daily activities.</a:t>
            </a:r>
            <a:endParaRPr sz="2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/>
              <a:t>Limited access to affordable assistive technology.</a:t>
            </a:r>
            <a:endParaRPr sz="2400" dirty="0"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6341" y="1562138"/>
            <a:ext cx="2276825" cy="227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623400" y="33319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>
                <a:latin typeface="Algerian" panose="04020705040A02060702" pitchFamily="82" charset="0"/>
              </a:rPr>
              <a:t>Objective of assistive technology for blind people</a:t>
            </a:r>
            <a:endParaRPr sz="3200" dirty="0">
              <a:latin typeface="Algerian" panose="04020705040A02060702" pitchFamily="82" charset="0"/>
            </a:endParaRPr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11700" y="1626382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</a:rPr>
              <a:t>To help blind people move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</a:rPr>
              <a:t>safely and independently.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</a:rPr>
              <a:t>To improve their ability to perform daily activities without depending on others.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</a:rPr>
              <a:t>To provide easy access to information through audio, Braille, and voice-based technologies.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</a:rPr>
              <a:t>To enhance communication using screen readers, voice assistants, and accessible devices.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 dirty="0">
                <a:solidFill>
                  <a:schemeClr val="dk1"/>
                </a:solidFill>
              </a:rPr>
              <a:t>To support education by making books, notes, and learning materials accessible.</a:t>
            </a:r>
            <a:endParaRPr sz="20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822960" y="482957"/>
            <a:ext cx="7543800" cy="8200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>
                <a:latin typeface="Algerian" panose="04020705040A02060702" pitchFamily="82" charset="0"/>
              </a:rPr>
              <a:t>Components used </a:t>
            </a:r>
            <a:endParaRPr sz="3200" dirty="0">
              <a:latin typeface="Algerian" panose="04020705040A02060702" pitchFamily="82" charset="0"/>
            </a:endParaRPr>
          </a:p>
        </p:txBody>
      </p:sp>
      <p:sp>
        <p:nvSpPr>
          <p:cNvPr id="80" name="Google Shape;80;p17"/>
          <p:cNvSpPr txBox="1">
            <a:spLocks noGrp="1"/>
          </p:cNvSpPr>
          <p:nvPr>
            <p:ph sz="half" idx="1"/>
          </p:nvPr>
        </p:nvSpPr>
        <p:spPr>
          <a:xfrm>
            <a:off x="860953" y="1384301"/>
            <a:ext cx="3703320" cy="30175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58"/>
              <a:buFont typeface="Arial" panose="020B0604020202020204" pitchFamily="34" charset="0"/>
              <a:buChar char="•"/>
            </a:pPr>
            <a:r>
              <a:rPr lang="en-GB" sz="1050" b="1" dirty="0">
                <a:solidFill>
                  <a:schemeClr val="dk1"/>
                </a:solidFill>
              </a:rPr>
              <a:t>Arduino Uno</a:t>
            </a:r>
            <a:endParaRPr sz="105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-GB" sz="1050" dirty="0">
                <a:solidFill>
                  <a:schemeClr val="dk1"/>
                </a:solidFill>
              </a:rPr>
              <a:t>The main controller that processes sensor data and controls the buzzer.</a:t>
            </a:r>
            <a:endParaRPr sz="1050" dirty="0">
              <a:solidFill>
                <a:schemeClr val="dk1"/>
              </a:solidFill>
            </a:endParaRPr>
          </a:p>
          <a:p>
            <a:pPr lvl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Font typeface="Arial" panose="020B0604020202020204" pitchFamily="34" charset="0"/>
              <a:buChar char="•"/>
            </a:pPr>
            <a:r>
              <a:rPr lang="en-GB" sz="1050" b="1" dirty="0">
                <a:solidFill>
                  <a:schemeClr val="dk1"/>
                </a:solidFill>
              </a:rPr>
              <a:t>Ultrasonic Sensor</a:t>
            </a:r>
            <a:endParaRPr sz="105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-GB" sz="1100" dirty="0">
                <a:solidFill>
                  <a:schemeClr val="dk1"/>
                </a:solidFill>
              </a:rPr>
              <a:t>Detects obstacles by measuring the distance between the sensor and nearby objects.</a:t>
            </a:r>
            <a:endParaRPr sz="1100" dirty="0">
              <a:solidFill>
                <a:schemeClr val="dk1"/>
              </a:solidFill>
            </a:endParaRPr>
          </a:p>
          <a:p>
            <a:pPr lvl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Font typeface="Arial" panose="020B0604020202020204" pitchFamily="34" charset="0"/>
              <a:buChar char="•"/>
            </a:pPr>
            <a:r>
              <a:rPr lang="en-GB" sz="1050" b="1" dirty="0">
                <a:solidFill>
                  <a:schemeClr val="dk1"/>
                </a:solidFill>
              </a:rPr>
              <a:t>Buzzer</a:t>
            </a:r>
            <a:endParaRPr sz="105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-GB" sz="1050" dirty="0">
                <a:solidFill>
                  <a:schemeClr val="dk1"/>
                </a:solidFill>
              </a:rPr>
              <a:t>Produces a warning sound when an obstacle is detected</a:t>
            </a:r>
            <a:r>
              <a:rPr lang="en-GB" sz="1200" dirty="0">
                <a:solidFill>
                  <a:schemeClr val="dk1"/>
                </a:solidFill>
              </a:rPr>
              <a:t>.</a:t>
            </a:r>
            <a:endParaRPr sz="1200" dirty="0">
              <a:solidFill>
                <a:schemeClr val="dk1"/>
              </a:solidFill>
            </a:endParaRPr>
          </a:p>
          <a:p>
            <a:pPr lvl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Font typeface="Arial" panose="020B0604020202020204" pitchFamily="34" charset="0"/>
              <a:buChar char="•"/>
            </a:pPr>
            <a:r>
              <a:rPr lang="en-GB" sz="1050" b="1" dirty="0">
                <a:solidFill>
                  <a:schemeClr val="dk1"/>
                </a:solidFill>
              </a:rPr>
              <a:t>Jumper Wires</a:t>
            </a:r>
            <a:endParaRPr sz="105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-GB" sz="1050" dirty="0">
                <a:solidFill>
                  <a:schemeClr val="dk1"/>
                </a:solidFill>
              </a:rPr>
              <a:t>Connect the Arduino, sensor, and buzzer.</a:t>
            </a:r>
            <a:endParaRPr sz="1050" dirty="0">
              <a:solidFill>
                <a:schemeClr val="dk1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499856-1FDA-E5B2-AA02-A085B7D959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64273" y="1384301"/>
            <a:ext cx="3703320" cy="3017520"/>
          </a:xfrm>
        </p:spPr>
        <p:txBody>
          <a:bodyPr>
            <a:normAutofit/>
          </a:bodyPr>
          <a:lstStyle/>
          <a:p>
            <a:pPr lv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dk1"/>
                </a:solidFill>
              </a:rPr>
              <a:t>Breadboard (Optional)</a:t>
            </a:r>
          </a:p>
          <a:p>
            <a:pPr marL="0" lvl="0" indent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-US" sz="1100" dirty="0">
                <a:solidFill>
                  <a:schemeClr val="dk1"/>
                </a:solidFill>
              </a:rPr>
              <a:t>Used for making temporary connections without soldering.</a:t>
            </a:r>
          </a:p>
          <a:p>
            <a:pPr lv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dk1"/>
                </a:solidFill>
              </a:rPr>
              <a:t>9V Battery (or Power Bank)</a:t>
            </a:r>
          </a:p>
          <a:p>
            <a:pPr marL="0" lvl="0" indent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-US" sz="1100" dirty="0">
                <a:solidFill>
                  <a:schemeClr val="dk1"/>
                </a:solidFill>
              </a:rPr>
              <a:t>Supplies power to the Arduino for portable use.</a:t>
            </a:r>
          </a:p>
          <a:p>
            <a:pPr lv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dk1"/>
                </a:solidFill>
              </a:rPr>
              <a:t>USB Programming Cable</a:t>
            </a:r>
          </a:p>
          <a:p>
            <a:pPr marL="0" lvl="0" indent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rPr lang="en-US" sz="1100" dirty="0">
                <a:solidFill>
                  <a:schemeClr val="dk1"/>
                </a:solidFill>
              </a:rPr>
              <a:t>Uploads the Arduino program and can also power the board during testing.</a:t>
            </a:r>
          </a:p>
          <a:p>
            <a:pPr marL="0" lvl="0" indent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endParaRPr lang="en-US" sz="2000" b="1" dirty="0">
              <a:solidFill>
                <a:schemeClr val="dk1"/>
              </a:solidFill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311700" y="477189"/>
            <a:ext cx="8520600" cy="6780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>
                <a:latin typeface="Algerian" panose="04020705040A02060702" pitchFamily="82" charset="0"/>
              </a:rPr>
              <a:t>Working principle </a:t>
            </a:r>
            <a:endParaRPr sz="3200" dirty="0">
              <a:latin typeface="Algerian" panose="04020705040A02060702" pitchFamily="82" charset="0"/>
            </a:endParaRPr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1"/>
          </p:nvPr>
        </p:nvSpPr>
        <p:spPr>
          <a:xfrm>
            <a:off x="311700" y="1395830"/>
            <a:ext cx="8520600" cy="35432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sz="2900" b="1" dirty="0"/>
              <a:t>🔋 </a:t>
            </a:r>
            <a:r>
              <a:rPr lang="en-GB" sz="2900" b="1" dirty="0">
                <a:solidFill>
                  <a:schemeClr val="dk1"/>
                </a:solidFill>
              </a:rPr>
              <a:t>Battery</a:t>
            </a:r>
            <a:endParaRPr sz="29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9526"/>
              <a:buFont typeface="Arial"/>
              <a:buNone/>
            </a:pPr>
            <a:r>
              <a:rPr lang="en-GB" sz="2900" b="1" dirty="0">
                <a:solidFill>
                  <a:schemeClr val="dk1"/>
                </a:solidFill>
              </a:rPr>
              <a:t>      ↓</a:t>
            </a:r>
            <a:endParaRPr sz="29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sz="2900" b="1" dirty="0">
                <a:solidFill>
                  <a:schemeClr val="dk1"/>
                </a:solidFill>
              </a:rPr>
              <a:t>🧠 Arduino Uno</a:t>
            </a:r>
            <a:endParaRPr sz="29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sz="2900" b="1" dirty="0">
                <a:solidFill>
                  <a:schemeClr val="dk1"/>
                </a:solidFill>
              </a:rPr>
              <a:t>      ↓</a:t>
            </a:r>
            <a:endParaRPr sz="29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sz="2900" b="1" dirty="0">
                <a:solidFill>
                  <a:schemeClr val="dk1"/>
                </a:solidFill>
              </a:rPr>
              <a:t>📡 Ultrasonic Sensor</a:t>
            </a:r>
            <a:endParaRPr sz="29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sz="2900" b="1" dirty="0">
                <a:solidFill>
                  <a:schemeClr val="dk1"/>
                </a:solidFill>
              </a:rPr>
              <a:t>      ↓</a:t>
            </a:r>
            <a:endParaRPr sz="29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sz="2900" b="1" dirty="0">
                <a:solidFill>
                  <a:schemeClr val="dk1"/>
                </a:solidFill>
              </a:rPr>
              <a:t>Obstacle Detected?</a:t>
            </a:r>
            <a:endParaRPr sz="29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sz="2900" b="1" dirty="0">
                <a:solidFill>
                  <a:schemeClr val="dk1"/>
                </a:solidFill>
              </a:rPr>
              <a:t>      ↓ Yes</a:t>
            </a:r>
            <a:endParaRPr sz="29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sz="2900" b="1" dirty="0">
                <a:solidFill>
                  <a:schemeClr val="dk1"/>
                </a:solidFill>
              </a:rPr>
              <a:t>🔊 Buzzer ON</a:t>
            </a:r>
            <a:endParaRPr sz="29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sz="2900" b="1" dirty="0">
                <a:solidFill>
                  <a:schemeClr val="dk1"/>
                </a:solidFill>
              </a:rPr>
              <a:t>      ↓</a:t>
            </a:r>
            <a:endParaRPr sz="29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sz="2900" b="1" dirty="0">
                <a:solidFill>
                  <a:schemeClr val="dk1"/>
                </a:solidFill>
              </a:rPr>
              <a:t>🚶 User Avoids Obstacle</a:t>
            </a:r>
            <a:endParaRPr sz="29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5" name="Picture 4" descr="9V Original HW Battery">
            <a:extLst>
              <a:ext uri="{FF2B5EF4-FFF2-40B4-BE49-F238E27FC236}">
                <a16:creationId xmlns:a16="http://schemas.microsoft.com/office/drawing/2014/main" id="{91E7FD93-96E1-48F4-F5CE-CFA886851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2734" y="1395830"/>
            <a:ext cx="940159" cy="1497761"/>
          </a:xfrm>
          <a:prstGeom prst="rect">
            <a:avLst/>
          </a:prstGeom>
        </p:spPr>
      </p:pic>
      <p:pic>
        <p:nvPicPr>
          <p:cNvPr id="6" name="Picture 5" descr="Arduino UNO SMD Compatible Board – ATmega328P CH340 Development Board –  Harish Projects">
            <a:extLst>
              <a:ext uri="{FF2B5EF4-FFF2-40B4-BE49-F238E27FC236}">
                <a16:creationId xmlns:a16="http://schemas.microsoft.com/office/drawing/2014/main" id="{A123CAC7-46D6-ECBF-293E-3DBBA0FFBD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646" y="1395830"/>
            <a:ext cx="2032448" cy="1930222"/>
          </a:xfrm>
          <a:prstGeom prst="rect">
            <a:avLst/>
          </a:prstGeom>
        </p:spPr>
      </p:pic>
      <p:pic>
        <p:nvPicPr>
          <p:cNvPr id="7" name="Picture 6" descr="Ultrasonic Distance Sensor - 5V (HC-SR04) - SparkFun Electronics">
            <a:extLst>
              <a:ext uri="{FF2B5EF4-FFF2-40B4-BE49-F238E27FC236}">
                <a16:creationId xmlns:a16="http://schemas.microsoft.com/office/drawing/2014/main" id="{28C952FF-EA97-4908-84B4-B209198D1C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567" y="3036123"/>
            <a:ext cx="1870560" cy="1630188"/>
          </a:xfrm>
          <a:prstGeom prst="rect">
            <a:avLst/>
          </a:prstGeom>
        </p:spPr>
      </p:pic>
      <p:pic>
        <p:nvPicPr>
          <p:cNvPr id="8" name="Picture 7" descr="5V Buzzer">
            <a:extLst>
              <a:ext uri="{FF2B5EF4-FFF2-40B4-BE49-F238E27FC236}">
                <a16:creationId xmlns:a16="http://schemas.microsoft.com/office/drawing/2014/main" id="{CE807713-A9F1-B73E-4B75-5E41759418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1316" y="3003959"/>
            <a:ext cx="1951554" cy="16945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267250" y="4069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latin typeface="Algerian" panose="04020705040A02060702" pitchFamily="82" charset="0"/>
              </a:rPr>
              <a:t>CONNECTION</a:t>
            </a:r>
            <a:endParaRPr sz="3200" dirty="0">
              <a:latin typeface="Algerian" panose="04020705040A02060702" pitchFamily="8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04F47E-4245-4FAE-B0E4-684848E8E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583" y="979625"/>
            <a:ext cx="8270517" cy="36304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A864C-415A-B6D1-63A5-A606DB5B2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latin typeface="Algerian" panose="04020705040A02060702" pitchFamily="82" charset="0"/>
              </a:rPr>
              <a:t>Programming/coding </a:t>
            </a:r>
            <a:endParaRPr lang="en-IN" sz="3200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492985-5341-51C6-DD2F-48C2482D1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530349"/>
            <a:ext cx="8520600" cy="3038525"/>
          </a:xfrm>
        </p:spPr>
        <p:txBody>
          <a:bodyPr>
            <a:normAutofit/>
          </a:bodyPr>
          <a:lstStyle/>
          <a:p>
            <a:r>
              <a:rPr lang="en-IN" sz="1800" dirty="0" err="1"/>
              <a:t>const</a:t>
            </a:r>
            <a:r>
              <a:rPr lang="en-IN" sz="1800" dirty="0"/>
              <a:t> int </a:t>
            </a:r>
            <a:r>
              <a:rPr lang="en-IN" sz="1800" dirty="0" err="1"/>
              <a:t>trigPin</a:t>
            </a:r>
            <a:r>
              <a:rPr lang="en-IN" sz="1800" dirty="0"/>
              <a:t> = 9;       </a:t>
            </a:r>
            <a:r>
              <a:rPr lang="en-IN" sz="1800" dirty="0" err="1"/>
              <a:t>const</a:t>
            </a:r>
            <a:r>
              <a:rPr lang="en-IN" sz="1800" dirty="0"/>
              <a:t> int </a:t>
            </a:r>
            <a:r>
              <a:rPr lang="en-IN" sz="1800" dirty="0" err="1"/>
              <a:t>echoPin</a:t>
            </a:r>
            <a:r>
              <a:rPr lang="en-IN" sz="1800" dirty="0"/>
              <a:t> = 8;       </a:t>
            </a:r>
            <a:r>
              <a:rPr lang="en-IN" sz="1800" dirty="0" err="1"/>
              <a:t>const</a:t>
            </a:r>
            <a:r>
              <a:rPr lang="en-IN" sz="1800" dirty="0"/>
              <a:t> int </a:t>
            </a:r>
            <a:r>
              <a:rPr lang="en-IN" sz="1800" dirty="0" err="1"/>
              <a:t>buzzerPin</a:t>
            </a:r>
            <a:r>
              <a:rPr lang="en-IN" sz="1800" dirty="0"/>
              <a:t> = 11;    </a:t>
            </a:r>
            <a:r>
              <a:rPr lang="en-IN" sz="1800" dirty="0" err="1"/>
              <a:t>const</a:t>
            </a:r>
            <a:r>
              <a:rPr lang="en-IN" sz="1800" dirty="0"/>
              <a:t> int </a:t>
            </a:r>
            <a:r>
              <a:rPr lang="en-IN" sz="1800" dirty="0" err="1"/>
              <a:t>safetyDistance</a:t>
            </a:r>
            <a:r>
              <a:rPr lang="en-IN" sz="1800" dirty="0"/>
              <a:t> = 7; void setup() {  </a:t>
            </a:r>
            <a:r>
              <a:rPr lang="en-IN" sz="1800" dirty="0" err="1"/>
              <a:t>pinMode</a:t>
            </a:r>
            <a:r>
              <a:rPr lang="en-IN" sz="1800" dirty="0"/>
              <a:t>(</a:t>
            </a:r>
            <a:r>
              <a:rPr lang="en-IN" sz="1800" dirty="0" err="1"/>
              <a:t>trigPin</a:t>
            </a:r>
            <a:r>
              <a:rPr lang="en-IN" sz="1800" dirty="0"/>
              <a:t>, OUTPUT);   </a:t>
            </a:r>
            <a:r>
              <a:rPr lang="en-IN" sz="1800" dirty="0" err="1"/>
              <a:t>pinMode</a:t>
            </a:r>
            <a:r>
              <a:rPr lang="en-IN" sz="1800" dirty="0"/>
              <a:t>(</a:t>
            </a:r>
            <a:r>
              <a:rPr lang="en-IN" sz="1800" dirty="0" err="1"/>
              <a:t>echoPin</a:t>
            </a:r>
            <a:r>
              <a:rPr lang="en-IN" sz="1800" dirty="0"/>
              <a:t>, INPUT);    </a:t>
            </a:r>
            <a:r>
              <a:rPr lang="en-IN" sz="1800" dirty="0" err="1"/>
              <a:t>pinMode</a:t>
            </a:r>
            <a:r>
              <a:rPr lang="en-IN" sz="1800" dirty="0"/>
              <a:t>(</a:t>
            </a:r>
            <a:r>
              <a:rPr lang="en-IN" sz="1800" dirty="0" err="1"/>
              <a:t>buzzerPin</a:t>
            </a:r>
            <a:r>
              <a:rPr lang="en-IN" sz="1800" dirty="0"/>
              <a:t>, OUTPUT);   </a:t>
            </a:r>
            <a:r>
              <a:rPr lang="en-IN" sz="1800" dirty="0" err="1"/>
              <a:t>Serial.begin</a:t>
            </a:r>
            <a:r>
              <a:rPr lang="en-IN" sz="1800" dirty="0"/>
              <a:t>(9600);}void loop() {  </a:t>
            </a:r>
            <a:r>
              <a:rPr lang="en-IN" sz="1800" dirty="0" err="1"/>
              <a:t>digitalWrite</a:t>
            </a:r>
            <a:r>
              <a:rPr lang="en-IN" sz="1800" dirty="0"/>
              <a:t>(</a:t>
            </a:r>
            <a:r>
              <a:rPr lang="en-IN" sz="1800" dirty="0" err="1"/>
              <a:t>trigPin</a:t>
            </a:r>
            <a:r>
              <a:rPr lang="en-IN" sz="1800" dirty="0"/>
              <a:t>, LOW);  </a:t>
            </a:r>
            <a:r>
              <a:rPr lang="en-IN" sz="1800" dirty="0" err="1"/>
              <a:t>delayMicroseconds</a:t>
            </a:r>
            <a:r>
              <a:rPr lang="en-IN" sz="1800" dirty="0"/>
              <a:t>(2);  </a:t>
            </a:r>
            <a:r>
              <a:rPr lang="en-IN" sz="1800" dirty="0" err="1"/>
              <a:t>digitalWrite</a:t>
            </a:r>
            <a:r>
              <a:rPr lang="en-IN" sz="1800" dirty="0"/>
              <a:t>(</a:t>
            </a:r>
            <a:r>
              <a:rPr lang="en-IN" sz="1800" dirty="0" err="1"/>
              <a:t>trigPin</a:t>
            </a:r>
            <a:r>
              <a:rPr lang="en-IN" sz="1800" dirty="0"/>
              <a:t>, HIGH);  </a:t>
            </a:r>
            <a:r>
              <a:rPr lang="en-IN" sz="1800" dirty="0" err="1"/>
              <a:t>delayMicroseconds</a:t>
            </a:r>
            <a:r>
              <a:rPr lang="en-IN" sz="1800" dirty="0"/>
              <a:t>(10);  </a:t>
            </a:r>
            <a:r>
              <a:rPr lang="en-IN" sz="1800" dirty="0" err="1"/>
              <a:t>digitalWrite</a:t>
            </a:r>
            <a:r>
              <a:rPr lang="en-IN" sz="1800" dirty="0"/>
              <a:t>(</a:t>
            </a:r>
            <a:r>
              <a:rPr lang="en-IN" sz="1800" dirty="0" err="1"/>
              <a:t>trigPin</a:t>
            </a:r>
            <a:r>
              <a:rPr lang="en-IN" sz="1800" dirty="0"/>
              <a:t>, LOW);  long duration = </a:t>
            </a:r>
            <a:r>
              <a:rPr lang="en-IN" sz="1800" dirty="0" err="1"/>
              <a:t>pulseIn</a:t>
            </a:r>
            <a:r>
              <a:rPr lang="en-IN" sz="1800" dirty="0"/>
              <a:t>(</a:t>
            </a:r>
            <a:r>
              <a:rPr lang="en-IN" sz="1800" dirty="0" err="1"/>
              <a:t>echoPin</a:t>
            </a:r>
            <a:r>
              <a:rPr lang="en-IN" sz="1800" dirty="0"/>
              <a:t>, HIGH);  int distance = duration * 0.034 / 2;  </a:t>
            </a:r>
            <a:r>
              <a:rPr lang="en-IN" sz="1800" dirty="0" err="1"/>
              <a:t>Serial.print</a:t>
            </a:r>
            <a:r>
              <a:rPr lang="en-IN" sz="1800" dirty="0"/>
              <a:t>("Distance: ");  </a:t>
            </a:r>
            <a:r>
              <a:rPr lang="en-IN" sz="1800" dirty="0" err="1"/>
              <a:t>Serial.print</a:t>
            </a:r>
            <a:r>
              <a:rPr lang="en-IN" sz="1800" dirty="0"/>
              <a:t>(distance);  </a:t>
            </a:r>
            <a:r>
              <a:rPr lang="en-IN" sz="1800" dirty="0" err="1"/>
              <a:t>Serial.println</a:t>
            </a:r>
            <a:r>
              <a:rPr lang="en-IN" sz="1800" dirty="0"/>
              <a:t>(" cm");  if (distance &gt; 0 &amp;&amp; distance &lt;= </a:t>
            </a:r>
            <a:r>
              <a:rPr lang="en-IN" sz="1800" dirty="0" err="1"/>
              <a:t>safetyDistance</a:t>
            </a:r>
            <a:r>
              <a:rPr lang="en-IN" sz="1800" dirty="0"/>
              <a:t>) {    </a:t>
            </a:r>
            <a:r>
              <a:rPr lang="en-IN" sz="1800" dirty="0" err="1"/>
              <a:t>digitalWrite</a:t>
            </a:r>
            <a:r>
              <a:rPr lang="en-IN" sz="1800" dirty="0"/>
              <a:t>(</a:t>
            </a:r>
            <a:r>
              <a:rPr lang="en-IN" sz="1800" dirty="0" err="1"/>
              <a:t>buzzerPin</a:t>
            </a:r>
            <a:r>
              <a:rPr lang="en-IN" sz="1800" dirty="0"/>
              <a:t>, HIGH);   } else {    </a:t>
            </a:r>
            <a:r>
              <a:rPr lang="en-IN" sz="1800" dirty="0" err="1"/>
              <a:t>digitalWrite</a:t>
            </a:r>
            <a:r>
              <a:rPr lang="en-IN" sz="1800" dirty="0"/>
              <a:t>(</a:t>
            </a:r>
            <a:r>
              <a:rPr lang="en-IN" sz="1800" dirty="0" err="1"/>
              <a:t>buzzerPin</a:t>
            </a:r>
            <a:r>
              <a:rPr lang="en-IN" sz="1800" dirty="0"/>
              <a:t>, LOW);    }  delay(100);}</a:t>
            </a:r>
          </a:p>
        </p:txBody>
      </p:sp>
    </p:spTree>
    <p:extLst>
      <p:ext uri="{BB962C8B-B14F-4D97-AF65-F5344CB8AC3E}">
        <p14:creationId xmlns:p14="http://schemas.microsoft.com/office/powerpoint/2010/main" val="464636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05863-85CB-DEE3-0991-3A25351A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latin typeface="Algerian" panose="04020705040A02060702" pitchFamily="82" charset="0"/>
              </a:rPr>
              <a:t>Advantages &amp; applications</a:t>
            </a:r>
            <a:endParaRPr lang="en-IN" sz="3200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CE9FD-942C-8960-6A43-4C8688178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545465"/>
            <a:ext cx="8520600" cy="3023410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Helps visually impaired people detect obstacles easily.</a:t>
            </a:r>
          </a:p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Reduces the risk of accidents and falls</a:t>
            </a:r>
          </a:p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Low-cost and easy to build.</a:t>
            </a:r>
          </a:p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Portable and lightweight design.</a:t>
            </a:r>
          </a:p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Battery-operated, making it easy to use anywhere.</a:t>
            </a:r>
          </a:p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Improves independent and safe movement.</a:t>
            </a:r>
          </a:p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Used by visually impaired people for safe navigation.</a:t>
            </a:r>
          </a:p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Useful in homes, schools, hospitals, and public places.</a:t>
            </a:r>
          </a:p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Helps avoid obstac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 while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walking.Can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be used for indoor and outdoor move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ment.</a:t>
            </a:r>
          </a:p>
        </p:txBody>
      </p:sp>
    </p:spTree>
    <p:extLst>
      <p:ext uri="{BB962C8B-B14F-4D97-AF65-F5344CB8AC3E}">
        <p14:creationId xmlns:p14="http://schemas.microsoft.com/office/powerpoint/2010/main" val="3981192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7181C-1595-A408-D2FA-06999E826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latin typeface="Algerian" panose="04020705040A02060702" pitchFamily="82" charset="0"/>
              </a:rPr>
              <a:t>Future scope</a:t>
            </a:r>
            <a:endParaRPr lang="en-IN" sz="3200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98464-3353-A77E-A04E-C75A8161B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1900" y="1466225"/>
            <a:ext cx="3999900" cy="3004175"/>
          </a:xfrm>
        </p:spPr>
        <p:txBody>
          <a:bodyPr>
            <a:normAutofit/>
          </a:bodyPr>
          <a:lstStyle/>
          <a:p>
            <a:r>
              <a:rPr lang="en-IN" sz="1600" dirty="0">
                <a:solidFill>
                  <a:schemeClr val="tx1"/>
                </a:solidFill>
              </a:rPr>
              <a:t>Add a vibration motor for silent alerts.</a:t>
            </a:r>
          </a:p>
          <a:p>
            <a:r>
              <a:rPr lang="en-IN" sz="1600" dirty="0">
                <a:solidFill>
                  <a:schemeClr val="tx1"/>
                </a:solidFill>
              </a:rPr>
              <a:t>Integrate GPS for live location tracking.</a:t>
            </a:r>
          </a:p>
          <a:p>
            <a:r>
              <a:rPr lang="en-IN" sz="1600" dirty="0">
                <a:solidFill>
                  <a:schemeClr val="tx1"/>
                </a:solidFill>
              </a:rPr>
              <a:t>Add GSM or mobile app support for emergency alerts.</a:t>
            </a:r>
          </a:p>
          <a:p>
            <a:r>
              <a:rPr lang="en-IN" sz="1600" dirty="0">
                <a:solidFill>
                  <a:schemeClr val="tx1"/>
                </a:solidFill>
              </a:rPr>
              <a:t>Use AI to recognize different objects.</a:t>
            </a:r>
          </a:p>
          <a:p>
            <a:r>
              <a:rPr lang="en-IN" sz="1600" dirty="0">
                <a:solidFill>
                  <a:schemeClr val="tx1"/>
                </a:solidFill>
              </a:rPr>
              <a:t>Make the device smaller and lighter.</a:t>
            </a:r>
          </a:p>
          <a:p>
            <a:r>
              <a:rPr lang="en-IN" sz="1600" dirty="0">
                <a:solidFill>
                  <a:schemeClr val="tx1"/>
                </a:solidFill>
              </a:rPr>
              <a:t>Rechargeable battery can improve usability.</a:t>
            </a:r>
          </a:p>
          <a:p>
            <a:r>
              <a:rPr lang="en-IN" sz="1600" dirty="0">
                <a:solidFill>
                  <a:schemeClr val="tx1"/>
                </a:solidFill>
              </a:rPr>
              <a:t>Add voice guidance for better navigation</a:t>
            </a:r>
            <a:r>
              <a:rPr lang="en-IN" sz="16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FD364C-9C39-FDC5-5662-F963A2760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72620"/>
            <a:ext cx="3857625" cy="4502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946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C468C-3861-0DA2-FD8E-C18CBA875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latin typeface="Algerian" panose="04020705040A02060702" pitchFamily="82" charset="0"/>
              </a:rPr>
              <a:t>conclusion</a:t>
            </a:r>
            <a:endParaRPr lang="en-IN" sz="3200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63072-6EC5-3B4D-2590-3ADE914C6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674253"/>
            <a:ext cx="8520600" cy="2894621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solidFill>
                  <a:schemeClr val="tx1"/>
                </a:solidFill>
              </a:rPr>
              <a:t>The Smart Assistive Shoe is a simple and affordable solution for visually impaired people. It uses an ultrasonic sensor to detect nearby obstacles and alerts the user through a buzzer. This project improves safety, supports independent movement, and demonstrates how technology can make everyday life easier for people with visual disabilities.</a:t>
            </a:r>
            <a:endParaRPr lang="en-IN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5464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8F2FE-585C-DE2D-A2A3-65117D0CD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4499" y="644873"/>
            <a:ext cx="7997601" cy="1926877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Thank you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for your time and </a:t>
            </a:r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attention.I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hope you found my presentation informative and interesting.</a:t>
            </a:r>
            <a:endParaRPr lang="en-IN" sz="2800" dirty="0">
              <a:solidFill>
                <a:schemeClr val="accent5">
                  <a:lumMod val="75000"/>
                </a:schemeClr>
              </a:solidFill>
              <a:latin typeface="Artifakt Element Black" panose="020B0A03050000020004" pitchFamily="34" charset="0"/>
              <a:ea typeface="Artifakt Element Black" panose="020B0A030500000200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DA9372-E77E-80F3-A64F-ACDD39061F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79500" y="3409235"/>
            <a:ext cx="6553200" cy="9017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Presented </a:t>
            </a:r>
            <a:r>
              <a:rPr lang="en-US" dirty="0" err="1">
                <a:solidFill>
                  <a:schemeClr val="tx1"/>
                </a:solidFill>
              </a:rPr>
              <a:t>by:shaheena</a:t>
            </a:r>
            <a:r>
              <a:rPr lang="en-US" dirty="0">
                <a:solidFill>
                  <a:schemeClr val="tx1"/>
                </a:solidFill>
              </a:rPr>
              <a:t> Rai</a:t>
            </a:r>
          </a:p>
          <a:p>
            <a:r>
              <a:rPr lang="en-US" b="1" dirty="0" err="1">
                <a:solidFill>
                  <a:schemeClr val="tx1"/>
                </a:solidFill>
              </a:rPr>
              <a:t>Project</a:t>
            </a:r>
            <a:r>
              <a:rPr lang="en-US" dirty="0" err="1">
                <a:solidFill>
                  <a:schemeClr val="tx1"/>
                </a:solidFill>
              </a:rPr>
              <a:t>:Assestive</a:t>
            </a:r>
            <a:r>
              <a:rPr lang="en-US" dirty="0">
                <a:solidFill>
                  <a:schemeClr val="tx1"/>
                </a:solidFill>
              </a:rPr>
              <a:t> Technology for blind people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61075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46</TotalTime>
  <Words>697</Words>
  <Application>Microsoft Office PowerPoint</Application>
  <PresentationFormat>On-screen Show (16:9)</PresentationFormat>
  <Paragraphs>76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Algerian</vt:lpstr>
      <vt:lpstr>Arial</vt:lpstr>
      <vt:lpstr>Artifakt Element Black</vt:lpstr>
      <vt:lpstr>Artifakt Element Heavy</vt:lpstr>
      <vt:lpstr>Calibri</vt:lpstr>
      <vt:lpstr>Calibri Light</vt:lpstr>
      <vt:lpstr>Retrospect</vt:lpstr>
      <vt:lpstr> Assistive         Technology</vt:lpstr>
      <vt:lpstr>INTRODUCTION </vt:lpstr>
      <vt:lpstr>Problem faced by blind people   </vt:lpstr>
      <vt:lpstr>Objective of assistive technology for blind people</vt:lpstr>
      <vt:lpstr>Components used </vt:lpstr>
      <vt:lpstr>Working principle </vt:lpstr>
      <vt:lpstr>CONNECTION</vt:lpstr>
      <vt:lpstr>Programming/coding </vt:lpstr>
      <vt:lpstr>Advantages &amp; applications</vt:lpstr>
      <vt:lpstr>Future scope</vt:lpstr>
      <vt:lpstr>conclusion</vt:lpstr>
      <vt:lpstr>Thank you for your time and attention.I hope you found my presentation informative and interesting.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NAZIM</dc:creator>
  <cp:lastModifiedBy>Nikhil Patil</cp:lastModifiedBy>
  <cp:revision>2</cp:revision>
  <dcterms:modified xsi:type="dcterms:W3CDTF">2026-07-15T02:52:40Z</dcterms:modified>
</cp:coreProperties>
</file>