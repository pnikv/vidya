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66" r:id="rId3"/>
    <p:sldId id="267" r:id="rId4"/>
    <p:sldId id="257" r:id="rId5"/>
    <p:sldId id="258" r:id="rId6"/>
    <p:sldId id="268" r:id="rId7"/>
    <p:sldId id="259" r:id="rId8"/>
    <p:sldId id="261" r:id="rId9"/>
    <p:sldId id="263" r:id="rId10"/>
    <p:sldId id="264" r:id="rId11"/>
    <p:sldId id="265" r:id="rId12"/>
    <p:sldId id="269" r:id="rId13"/>
    <p:sldId id="270" r:id="rId14"/>
  </p:sldIdLst>
  <p:sldSz cx="9144000" cy="5143500" type="screen16x9"/>
  <p:notesSz cx="5143500" cy="9144000"/>
  <p:embeddedFontLst>
    <p:embeddedFont>
      <p:font typeface="Arial Black" panose="020B0A04020102020204" pitchFamily="34" charset="0"/>
      <p:bold r:id="rId16"/>
    </p:embeddedFont>
    <p:embeddedFont>
      <p:font typeface="Fira Sans" panose="020B0503050000020004" pitchFamily="34" charset="0"/>
      <p:regular r:id="rId17"/>
      <p:bold r:id="rId18"/>
      <p:italic r:id="rId19"/>
      <p:boldItalic r:id="rId20"/>
    </p:embeddedFont>
    <p:embeddedFont>
      <p:font typeface="Inconsolata Bold" pitchFamily="1"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1E6"/>
    <a:srgbClr val="F94CAF"/>
    <a:srgbClr val="241631"/>
    <a:srgbClr val="978DA4"/>
    <a:srgbClr val="6B5E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929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10C17"/>
          </a:solidFill>
          <a:ln/>
        </p:spPr>
      </p:sp>
      <p:sp>
        <p:nvSpPr>
          <p:cNvPr id="3" name="Shape 1"/>
          <p:cNvSpPr/>
          <p:nvPr/>
        </p:nvSpPr>
        <p:spPr>
          <a:xfrm>
            <a:off x="0" y="0"/>
            <a:ext cx="9144000" cy="51435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g"/><Relationship Id="rId4" Type="http://schemas.microsoft.com/office/2007/relationships/hdphoto" Target="../media/hdphoto1.wdp"/><Relationship Id="rId9"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10" Type="http://schemas.openxmlformats.org/officeDocument/2006/relationships/image" Target="../media/image21.jpeg"/><Relationship Id="rId4" Type="http://schemas.openxmlformats.org/officeDocument/2006/relationships/image" Target="../media/image15.jpeg"/><Relationship Id="rId9"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4016559" y="891007"/>
            <a:ext cx="4722763" cy="1328961"/>
          </a:xfrm>
          <a:prstGeom prst="rect">
            <a:avLst/>
          </a:prstGeom>
          <a:noFill/>
          <a:ln/>
        </p:spPr>
        <p:txBody>
          <a:bodyPr wrap="square" lIns="0" tIns="0" rIns="0" bIns="0" rtlCol="0" anchor="t">
            <a:normAutofit/>
          </a:bodyPr>
          <a:lstStyle/>
          <a:p>
            <a:pPr marL="0" indent="0" algn="l">
              <a:lnSpc>
                <a:spcPct val="104000"/>
              </a:lnSpc>
              <a:buNone/>
            </a:pPr>
            <a:r>
              <a:rPr lang="en-US" sz="3200" b="1" dirty="0">
                <a:solidFill>
                  <a:srgbClr val="F94CAF"/>
                </a:solidFill>
                <a:latin typeface="Inconsolata Bold" pitchFamily="34" charset="0"/>
                <a:ea typeface="Inconsolata Bold" pitchFamily="34" charset="-122"/>
                <a:cs typeface="Inconsolata Bold" pitchFamily="34" charset="-120"/>
              </a:rPr>
              <a:t>Vertical Axis Wind Turbine</a:t>
            </a:r>
            <a:r>
              <a:rPr lang="en-US" sz="2750" b="1" dirty="0">
                <a:solidFill>
                  <a:srgbClr val="F94CAF"/>
                </a:solidFill>
                <a:latin typeface="Inconsolata Bold" pitchFamily="34" charset="0"/>
                <a:ea typeface="Inconsolata Bold" pitchFamily="34" charset="-122"/>
                <a:cs typeface="Inconsolata Bold" pitchFamily="34" charset="-120"/>
              </a:rPr>
              <a:t>: </a:t>
            </a:r>
            <a:endParaRPr lang="en-US" sz="2750" dirty="0"/>
          </a:p>
        </p:txBody>
      </p:sp>
      <p:sp>
        <p:nvSpPr>
          <p:cNvPr id="4" name="Text 1"/>
          <p:cNvSpPr/>
          <p:nvPr/>
        </p:nvSpPr>
        <p:spPr>
          <a:xfrm>
            <a:off x="3925119" y="2392206"/>
            <a:ext cx="4722763" cy="1328961"/>
          </a:xfrm>
          <a:prstGeom prst="rect">
            <a:avLst/>
          </a:prstGeom>
          <a:noFill/>
          <a:ln/>
        </p:spPr>
        <p:txBody>
          <a:bodyPr wrap="square" lIns="0" tIns="0" rIns="0" bIns="0" rtlCol="0" anchor="t">
            <a:normAutofit/>
          </a:bodyPr>
          <a:lstStyle/>
          <a:p>
            <a:pPr marL="0" indent="0" algn="l">
              <a:lnSpc>
                <a:spcPct val="133000"/>
              </a:lnSpc>
              <a:buNone/>
            </a:pPr>
            <a:r>
              <a:rPr lang="en-US" sz="300" dirty="0">
                <a:solidFill>
                  <a:srgbClr val="DAD1E6"/>
                </a:solidFill>
                <a:latin typeface="Fira Sans" pitchFamily="34" charset="0"/>
                <a:ea typeface="Fira Sans" pitchFamily="34" charset="-122"/>
                <a:cs typeface="Fira Sans" pitchFamily="34" charset="-120"/>
              </a:rPr>
              <a:t> </a:t>
            </a:r>
            <a:r>
              <a:rPr lang="en-US" sz="1400" dirty="0">
                <a:solidFill>
                  <a:srgbClr val="DAD1E6"/>
                </a:solidFill>
                <a:latin typeface="Fira Sans" pitchFamily="34" charset="0"/>
                <a:ea typeface="Fira Sans" pitchFamily="34" charset="-122"/>
                <a:cs typeface="Fira Sans" pitchFamily="34" charset="-120"/>
              </a:rPr>
              <a:t>A compact, urban-ready wind energy prototype that converts variable wind into usable electricity. This project demonstrates a practical, low-maintenance solution for </a:t>
            </a:r>
            <a:r>
              <a:rPr lang="en-US" sz="1400" dirty="0" err="1">
                <a:solidFill>
                  <a:srgbClr val="DAD1E6"/>
                </a:solidFill>
                <a:latin typeface="Fira Sans" pitchFamily="34" charset="0"/>
                <a:ea typeface="Fira Sans" pitchFamily="34" charset="-122"/>
                <a:cs typeface="Fira Sans" pitchFamily="34" charset="-120"/>
              </a:rPr>
              <a:t>decentralised</a:t>
            </a:r>
            <a:r>
              <a:rPr lang="en-US" sz="1400" dirty="0">
                <a:solidFill>
                  <a:srgbClr val="DAD1E6"/>
                </a:solidFill>
                <a:latin typeface="Fira Sans" pitchFamily="34" charset="0"/>
                <a:ea typeface="Fira Sans" pitchFamily="34" charset="-122"/>
                <a:cs typeface="Fira Sans" pitchFamily="34" charset="-120"/>
              </a:rPr>
              <a:t> power</a:t>
            </a:r>
            <a:r>
              <a:rPr lang="en-US" sz="300" dirty="0">
                <a:solidFill>
                  <a:srgbClr val="DAD1E6"/>
                </a:solidFill>
                <a:latin typeface="Fira Sans" pitchFamily="34" charset="0"/>
                <a:ea typeface="Fira Sans" pitchFamily="34" charset="-122"/>
                <a:cs typeface="Fira Sans" pitchFamily="34" charset="-120"/>
              </a:rPr>
              <a:t>.</a:t>
            </a:r>
            <a:endParaRPr lang="en-US" sz="300" dirty="0"/>
          </a:p>
        </p:txBody>
      </p:sp>
      <p:sp>
        <p:nvSpPr>
          <p:cNvPr id="5" name="Rectangle 4">
            <a:extLst>
              <a:ext uri="{FF2B5EF4-FFF2-40B4-BE49-F238E27FC236}">
                <a16:creationId xmlns:a16="http://schemas.microsoft.com/office/drawing/2014/main" id="{69D6338C-A2A1-65B6-07B1-858AE8C0772D}"/>
              </a:ext>
            </a:extLst>
          </p:cNvPr>
          <p:cNvSpPr/>
          <p:nvPr/>
        </p:nvSpPr>
        <p:spPr>
          <a:xfrm>
            <a:off x="7955280" y="4768948"/>
            <a:ext cx="1188720" cy="374552"/>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C78686-C6AA-56EB-D4AA-D421DAA3D94A}"/>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
        <p:nvSpPr>
          <p:cNvPr id="2" name="TextBox 1">
            <a:extLst>
              <a:ext uri="{FF2B5EF4-FFF2-40B4-BE49-F238E27FC236}">
                <a16:creationId xmlns:a16="http://schemas.microsoft.com/office/drawing/2014/main" id="{73589EAC-9D67-DE2B-7737-BB17DCC2E21D}"/>
              </a:ext>
            </a:extLst>
          </p:cNvPr>
          <p:cNvSpPr txBox="1"/>
          <p:nvPr/>
        </p:nvSpPr>
        <p:spPr>
          <a:xfrm rot="10800000" flipH="1" flipV="1">
            <a:off x="2461846" y="-34572"/>
            <a:ext cx="4360985"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sz="2800" b="1" dirty="0">
                <a:solidFill>
                  <a:srgbClr val="F94CAF"/>
                </a:solidFill>
                <a:latin typeface="Inconsolata Bold" pitchFamily="1" charset="0"/>
                <a:ea typeface="Inconsolata Bold" pitchFamily="1" charset="0"/>
              </a:rPr>
              <a:t>1</a:t>
            </a:r>
            <a:r>
              <a:rPr lang="en-IN" sz="2800" b="1" u="sng" dirty="0">
                <a:solidFill>
                  <a:srgbClr val="F94CAF"/>
                </a:solidFill>
                <a:latin typeface="Inconsolata Bold" pitchFamily="1" charset="0"/>
                <a:ea typeface="Inconsolata Bold" pitchFamily="1" charset="0"/>
              </a:rPr>
              <a:t>.BACKGROUND</a:t>
            </a:r>
            <a:r>
              <a:rPr lang="en-IN" sz="2800" b="1" u="sng" dirty="0">
                <a:solidFill>
                  <a:srgbClr val="F94CAF"/>
                </a:solidFill>
                <a:latin typeface="Incoslota"/>
              </a:rPr>
              <a:t> </a:t>
            </a:r>
            <a:r>
              <a:rPr lang="en-IN" sz="2800" b="1" u="sng" dirty="0">
                <a:solidFill>
                  <a:srgbClr val="F94CAF"/>
                </a:solidFill>
                <a:latin typeface="Inconsolata Bold" pitchFamily="1" charset="0"/>
                <a:ea typeface="Inconsolata Bold" pitchFamily="1" charset="0"/>
              </a:rPr>
              <a:t>OF VAWT</a:t>
            </a:r>
            <a:endParaRPr lang="en-IN" sz="3200" b="1" u="sng" dirty="0">
              <a:solidFill>
                <a:srgbClr val="F94CAF"/>
              </a:solidFill>
              <a:latin typeface="Inconsolata Bold" pitchFamily="1" charset="0"/>
              <a:ea typeface="Inconsolata Bold" pitchFamily="1" charset="0"/>
            </a:endParaRPr>
          </a:p>
        </p:txBody>
      </p:sp>
      <p:pic>
        <p:nvPicPr>
          <p:cNvPr id="4" name="Picture 3" descr="July 1887: James Blyth Harnesses the Wind for Electricity | American  Physical Society">
            <a:extLst>
              <a:ext uri="{FF2B5EF4-FFF2-40B4-BE49-F238E27FC236}">
                <a16:creationId xmlns:a16="http://schemas.microsoft.com/office/drawing/2014/main" id="{86CE5D67-FC4A-6287-B1A9-657D9351CE9C}"/>
              </a:ext>
            </a:extLst>
          </p:cNvPr>
          <p:cNvPicPr>
            <a:picLocks noChangeAspect="1"/>
          </p:cNvPicPr>
          <p:nvPr/>
        </p:nvPicPr>
        <p:blipFill>
          <a:blip r:embed="rId2"/>
          <a:srcRect t="6910" b="12159"/>
          <a:stretch>
            <a:fillRect/>
          </a:stretch>
        </p:blipFill>
        <p:spPr>
          <a:xfrm>
            <a:off x="7310893" y="137340"/>
            <a:ext cx="1266188" cy="1491001"/>
          </a:xfrm>
          <a:prstGeom prst="roundRect">
            <a:avLst>
              <a:gd name="adj" fmla="val 8594"/>
            </a:avLst>
          </a:prstGeom>
          <a:solidFill>
            <a:srgbClr val="FFFFFF">
              <a:shade val="85000"/>
            </a:srgbClr>
          </a:solidFill>
          <a:ln>
            <a:noFill/>
          </a:ln>
          <a:effectLst/>
        </p:spPr>
      </p:pic>
      <p:sp>
        <p:nvSpPr>
          <p:cNvPr id="7" name="TextBox 6">
            <a:extLst>
              <a:ext uri="{FF2B5EF4-FFF2-40B4-BE49-F238E27FC236}">
                <a16:creationId xmlns:a16="http://schemas.microsoft.com/office/drawing/2014/main" id="{BBCAA2CA-98D8-ED69-A230-45A53B7EFBEC}"/>
              </a:ext>
            </a:extLst>
          </p:cNvPr>
          <p:cNvSpPr txBox="1"/>
          <p:nvPr/>
        </p:nvSpPr>
        <p:spPr>
          <a:xfrm>
            <a:off x="1994206" y="676092"/>
            <a:ext cx="4617720" cy="923330"/>
          </a:xfrm>
          <a:prstGeom prst="rect">
            <a:avLst/>
          </a:prstGeom>
          <a:noFill/>
        </p:spPr>
        <p:txBody>
          <a:bodyPr wrap="square">
            <a:spAutoFit/>
          </a:bodyPr>
          <a:lstStyle/>
          <a:p>
            <a:r>
              <a:rPr lang="en-IN" u="sng" dirty="0">
                <a:solidFill>
                  <a:srgbClr val="F94CAF"/>
                </a:solidFill>
                <a:effectLst>
                  <a:outerShdw blurRad="38100" dist="38100" dir="2700000" algn="tl">
                    <a:srgbClr val="000000">
                      <a:alpha val="43137"/>
                    </a:srgbClr>
                  </a:outerShdw>
                </a:effectLst>
                <a:latin typeface="Fira Sans" panose="020B0503050000020004" pitchFamily="34" charset="0"/>
              </a:rPr>
              <a:t>1887</a:t>
            </a:r>
            <a:r>
              <a:rPr lang="en-IN" dirty="0">
                <a:solidFill>
                  <a:srgbClr val="F94CAF"/>
                </a:solidFill>
                <a:effectLst>
                  <a:outerShdw blurRad="38100" dist="38100" dir="2700000" algn="tl">
                    <a:srgbClr val="000000">
                      <a:alpha val="43137"/>
                    </a:srgbClr>
                  </a:outerShdw>
                </a:effectLst>
                <a:latin typeface="Fira Sans" panose="020B0503050000020004" pitchFamily="34" charset="0"/>
              </a:rPr>
              <a:t> </a:t>
            </a:r>
            <a:r>
              <a:rPr lang="en-IN" dirty="0">
                <a:solidFill>
                  <a:srgbClr val="DAD1E6"/>
                </a:solidFill>
                <a:effectLst>
                  <a:outerShdw blurRad="38100" dist="38100" dir="2700000" algn="tl">
                    <a:srgbClr val="000000">
                      <a:alpha val="43137"/>
                    </a:srgbClr>
                  </a:outerShdw>
                </a:effectLst>
                <a:latin typeface="Fira Sans" panose="020B0503050000020004" pitchFamily="34" charset="0"/>
              </a:rPr>
              <a:t>— </a:t>
            </a:r>
            <a:r>
              <a:rPr lang="en-IN" dirty="0">
                <a:solidFill>
                  <a:srgbClr val="00B0F0"/>
                </a:solidFill>
                <a:effectLst>
                  <a:outerShdw blurRad="38100" dist="38100" dir="2700000" algn="tl">
                    <a:srgbClr val="000000">
                      <a:alpha val="43137"/>
                    </a:srgbClr>
                  </a:outerShdw>
                </a:effectLst>
                <a:latin typeface="Fira Sans" panose="020B0503050000020004" pitchFamily="34" charset="0"/>
              </a:rPr>
              <a:t>James Blyth </a:t>
            </a:r>
            <a:r>
              <a:rPr lang="en-IN" dirty="0">
                <a:solidFill>
                  <a:srgbClr val="DAD1E6"/>
                </a:solidFill>
                <a:effectLst>
                  <a:outerShdw blurRad="38100" dist="38100" dir="2700000" algn="tl">
                    <a:srgbClr val="000000">
                      <a:alpha val="43137"/>
                    </a:srgbClr>
                  </a:outerShdw>
                </a:effectLst>
                <a:latin typeface="Fira Sans" panose="020B0503050000020004" pitchFamily="34" charset="0"/>
              </a:rPr>
              <a:t>(Scotland): Built the world’s first electricity-generating VAWT to power his cottage.</a:t>
            </a:r>
          </a:p>
        </p:txBody>
      </p:sp>
      <p:sp>
        <p:nvSpPr>
          <p:cNvPr id="9" name="TextBox 8">
            <a:extLst>
              <a:ext uri="{FF2B5EF4-FFF2-40B4-BE49-F238E27FC236}">
                <a16:creationId xmlns:a16="http://schemas.microsoft.com/office/drawing/2014/main" id="{0E27AACD-E519-96E0-62E3-BB2EA2818E4C}"/>
              </a:ext>
            </a:extLst>
          </p:cNvPr>
          <p:cNvSpPr txBox="1"/>
          <p:nvPr/>
        </p:nvSpPr>
        <p:spPr>
          <a:xfrm>
            <a:off x="1340688" y="3573029"/>
            <a:ext cx="6603299" cy="1200329"/>
          </a:xfrm>
          <a:prstGeom prst="rect">
            <a:avLst/>
          </a:prstGeom>
          <a:noFill/>
        </p:spPr>
        <p:txBody>
          <a:bodyPr wrap="square">
            <a:spAutoFit/>
          </a:bodyPr>
          <a:lstStyle/>
          <a:p>
            <a:endParaRPr lang="en-IN" dirty="0">
              <a:solidFill>
                <a:srgbClr val="DAD1E6"/>
              </a:solidFill>
              <a:latin typeface="Fira Sans" panose="020B0503050000020004" pitchFamily="34" charset="0"/>
            </a:endParaRPr>
          </a:p>
          <a:p>
            <a:r>
              <a:rPr lang="en-IN" u="sng" dirty="0">
                <a:solidFill>
                  <a:srgbClr val="F94CAF"/>
                </a:solidFill>
                <a:latin typeface="Fira Sans" panose="020B0503050000020004" pitchFamily="34" charset="0"/>
              </a:rPr>
              <a:t>1931</a:t>
            </a:r>
            <a:r>
              <a:rPr lang="en-IN" dirty="0">
                <a:solidFill>
                  <a:srgbClr val="DAD1E6"/>
                </a:solidFill>
                <a:latin typeface="Fira Sans" panose="020B0503050000020004" pitchFamily="34" charset="0"/>
              </a:rPr>
              <a:t> — </a:t>
            </a:r>
            <a:r>
              <a:rPr lang="en-IN" dirty="0">
                <a:solidFill>
                  <a:srgbClr val="00B0F0"/>
                </a:solidFill>
                <a:latin typeface="Fira Sans" panose="020B0503050000020004" pitchFamily="34" charset="0"/>
              </a:rPr>
              <a:t>Georges Jean Marie </a:t>
            </a:r>
            <a:r>
              <a:rPr lang="en-IN" dirty="0">
                <a:solidFill>
                  <a:srgbClr val="DAD1E6"/>
                </a:solidFill>
                <a:latin typeface="Fira Sans" panose="020B0503050000020004" pitchFamily="34" charset="0"/>
              </a:rPr>
              <a:t>(France): Patented the lift-based </a:t>
            </a:r>
            <a:r>
              <a:rPr lang="en-IN" dirty="0" err="1">
                <a:solidFill>
                  <a:srgbClr val="DAD1E6"/>
                </a:solidFill>
                <a:latin typeface="Fira Sans" panose="020B0503050000020004" pitchFamily="34" charset="0"/>
              </a:rPr>
              <a:t>Darrieus</a:t>
            </a:r>
            <a:r>
              <a:rPr lang="en-IN" dirty="0">
                <a:solidFill>
                  <a:srgbClr val="DAD1E6"/>
                </a:solidFill>
                <a:latin typeface="Fira Sans" panose="020B0503050000020004" pitchFamily="34" charset="0"/>
              </a:rPr>
              <a:t> ("eggbeater") turbine, establishing the aerofoil design used in modern high-efficiency VAWTs</a:t>
            </a:r>
            <a:r>
              <a:rPr lang="en-IN" dirty="0">
                <a:latin typeface="Fira Sans" panose="020B0503050000020004" pitchFamily="34" charset="0"/>
              </a:rPr>
              <a:t>.</a:t>
            </a:r>
          </a:p>
        </p:txBody>
      </p:sp>
      <p:pic>
        <p:nvPicPr>
          <p:cNvPr id="10" name="Picture 9" descr="ᴊᴏᴀɴɪᴇ ʟᴇᴍᴇʀᴄɪᴇʀ on X: &quot;I designed my own Savonius wind turbine. The  Savonius wind turbine was invented by the Finnish engineer Sigurd Johannes  Savonius in 1922 and patented in 1926. https://t.co/x4eH3fhzhN&quot; /">
            <a:extLst>
              <a:ext uri="{FF2B5EF4-FFF2-40B4-BE49-F238E27FC236}">
                <a16:creationId xmlns:a16="http://schemas.microsoft.com/office/drawing/2014/main" id="{E0E176F4-9980-278B-8712-4C906F08A82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7333" b="72417" l="9926" r="89926">
                        <a14:foregroundMark x1="51259" y1="17333" x2="51259" y2="17333"/>
                        <a14:foregroundMark x1="28593" y1="29000" x2="28593" y2="29000"/>
                        <a14:foregroundMark x1="43704" y1="34333" x2="43704" y2="34333"/>
                        <a14:foregroundMark x1="36148" y1="64167" x2="36148" y2="64167"/>
                      </a14:backgroundRemoval>
                    </a14:imgEffect>
                  </a14:imgLayer>
                </a14:imgProps>
              </a:ext>
            </a:extLst>
          </a:blip>
          <a:srcRect t="12100" b="20807"/>
          <a:stretch>
            <a:fillRect/>
          </a:stretch>
        </p:blipFill>
        <p:spPr>
          <a:xfrm>
            <a:off x="0" y="3573029"/>
            <a:ext cx="1403219" cy="1673681"/>
          </a:xfrm>
          <a:prstGeom prst="rect">
            <a:avLst/>
          </a:prstGeom>
        </p:spPr>
      </p:pic>
      <p:pic>
        <p:nvPicPr>
          <p:cNvPr id="11" name="Picture 10" descr="Sigurd Johannes Savonius - Wikipedia">
            <a:extLst>
              <a:ext uri="{FF2B5EF4-FFF2-40B4-BE49-F238E27FC236}">
                <a16:creationId xmlns:a16="http://schemas.microsoft.com/office/drawing/2014/main" id="{322821EC-3DAC-84A2-5FC3-C0D95888AA88}"/>
              </a:ext>
            </a:extLst>
          </p:cNvPr>
          <p:cNvPicPr>
            <a:picLocks noChangeAspect="1"/>
          </p:cNvPicPr>
          <p:nvPr/>
        </p:nvPicPr>
        <p:blipFill>
          <a:blip r:embed="rId5"/>
          <a:srcRect l="8591" t="13680" r="854" b="21569"/>
          <a:stretch>
            <a:fillRect/>
          </a:stretch>
        </p:blipFill>
        <p:spPr>
          <a:xfrm>
            <a:off x="222873" y="1973765"/>
            <a:ext cx="1216041" cy="1393617"/>
          </a:xfrm>
          <a:prstGeom prst="roundRect">
            <a:avLst>
              <a:gd name="adj" fmla="val 8594"/>
            </a:avLst>
          </a:prstGeom>
          <a:solidFill>
            <a:srgbClr val="FFFFFF">
              <a:shade val="85000"/>
            </a:srgbClr>
          </a:solidFill>
          <a:ln>
            <a:noFill/>
          </a:ln>
          <a:effectLst/>
        </p:spPr>
      </p:pic>
      <p:pic>
        <p:nvPicPr>
          <p:cNvPr id="12" name="Picture 11" descr="Georges Jean Marie Darrieus - Energie Eolienne vs. Centrale Nucleaire">
            <a:extLst>
              <a:ext uri="{FF2B5EF4-FFF2-40B4-BE49-F238E27FC236}">
                <a16:creationId xmlns:a16="http://schemas.microsoft.com/office/drawing/2014/main" id="{1DBFA1C4-D4AE-2342-B1E8-845677C1E2D4}"/>
              </a:ext>
            </a:extLst>
          </p:cNvPr>
          <p:cNvPicPr>
            <a:picLocks noChangeAspect="1"/>
          </p:cNvPicPr>
          <p:nvPr/>
        </p:nvPicPr>
        <p:blipFill>
          <a:blip r:embed="rId6"/>
          <a:stretch>
            <a:fillRect/>
          </a:stretch>
        </p:blipFill>
        <p:spPr>
          <a:xfrm>
            <a:off x="7873649" y="3573029"/>
            <a:ext cx="1216041" cy="1494540"/>
          </a:xfrm>
          <a:prstGeom prst="roundRect">
            <a:avLst>
              <a:gd name="adj" fmla="val 8594"/>
            </a:avLst>
          </a:prstGeom>
          <a:solidFill>
            <a:srgbClr val="FFFFFF">
              <a:shade val="85000"/>
            </a:srgbClr>
          </a:solidFill>
          <a:ln>
            <a:noFill/>
          </a:ln>
          <a:effectLst/>
        </p:spPr>
      </p:pic>
      <p:pic>
        <p:nvPicPr>
          <p:cNvPr id="13" name="Picture 12" descr="Georges Jean Marie Darrieus - Wikipedia">
            <a:extLst>
              <a:ext uri="{FF2B5EF4-FFF2-40B4-BE49-F238E27FC236}">
                <a16:creationId xmlns:a16="http://schemas.microsoft.com/office/drawing/2014/main" id="{BFEA0832-AAE3-4F35-6E8E-9108C260DCB8}"/>
              </a:ext>
            </a:extLst>
          </p:cNvPr>
          <p:cNvPicPr>
            <a:picLocks noChangeAspect="1"/>
          </p:cNvPicPr>
          <p:nvPr/>
        </p:nvPicPr>
        <p:blipFill>
          <a:blip r:embed="rId7">
            <a:duotone>
              <a:prstClr val="black"/>
              <a:schemeClr val="accent3">
                <a:tint val="45000"/>
                <a:satMod val="400000"/>
              </a:schemeClr>
            </a:duotone>
          </a:blip>
          <a:stretch>
            <a:fillRect/>
          </a:stretch>
        </p:blipFill>
        <p:spPr>
          <a:xfrm>
            <a:off x="7403234" y="1833989"/>
            <a:ext cx="1234329" cy="1548420"/>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71315835-0BCE-AF97-4CEC-C6AE7E2C5318}"/>
              </a:ext>
            </a:extLst>
          </p:cNvPr>
          <p:cNvSpPr txBox="1"/>
          <p:nvPr/>
        </p:nvSpPr>
        <p:spPr>
          <a:xfrm>
            <a:off x="1867486" y="2250772"/>
            <a:ext cx="5409028" cy="923330"/>
          </a:xfrm>
          <a:prstGeom prst="rect">
            <a:avLst/>
          </a:prstGeom>
          <a:noFill/>
        </p:spPr>
        <p:txBody>
          <a:bodyPr wrap="square">
            <a:spAutoFit/>
          </a:bodyPr>
          <a:lstStyle/>
          <a:p>
            <a:r>
              <a:rPr lang="en-IN" sz="1800" u="sng" dirty="0">
                <a:solidFill>
                  <a:srgbClr val="F94CAF"/>
                </a:solidFill>
                <a:latin typeface="Fira Sans" panose="020B0503050000020004" pitchFamily="34" charset="0"/>
              </a:rPr>
              <a:t>1922</a:t>
            </a:r>
            <a:r>
              <a:rPr lang="en-IN" sz="1800" dirty="0">
                <a:solidFill>
                  <a:srgbClr val="DAD1E6"/>
                </a:solidFill>
                <a:latin typeface="Fira Sans" panose="020B0503050000020004" pitchFamily="34" charset="0"/>
              </a:rPr>
              <a:t> — </a:t>
            </a:r>
            <a:r>
              <a:rPr lang="en-IN" sz="1800" dirty="0">
                <a:solidFill>
                  <a:srgbClr val="00B0F0"/>
                </a:solidFill>
                <a:latin typeface="Fira Sans" panose="020B0503050000020004" pitchFamily="34" charset="0"/>
              </a:rPr>
              <a:t>Sigurd Johannes </a:t>
            </a:r>
            <a:r>
              <a:rPr lang="en-IN" sz="1800" dirty="0">
                <a:solidFill>
                  <a:srgbClr val="DAD1E6"/>
                </a:solidFill>
                <a:latin typeface="Fira Sans" panose="020B0503050000020004" pitchFamily="34" charset="0"/>
              </a:rPr>
              <a:t>(Finland): Invented the drag-based S-shaped </a:t>
            </a:r>
            <a:r>
              <a:rPr lang="en-IN" sz="1800" dirty="0" err="1">
                <a:solidFill>
                  <a:srgbClr val="DAD1E6"/>
                </a:solidFill>
                <a:latin typeface="Fira Sans" panose="020B0503050000020004" pitchFamily="34" charset="0"/>
              </a:rPr>
              <a:t>Savonius</a:t>
            </a:r>
            <a:r>
              <a:rPr lang="en-IN" sz="1800" dirty="0">
                <a:solidFill>
                  <a:srgbClr val="DAD1E6"/>
                </a:solidFill>
                <a:latin typeface="Fira Sans" panose="020B0503050000020004" pitchFamily="34" charset="0"/>
              </a:rPr>
              <a:t> turbine, which spins easily in low-speed wind.​</a:t>
            </a:r>
          </a:p>
        </p:txBody>
      </p:sp>
      <p:pic>
        <p:nvPicPr>
          <p:cNvPr id="16" name="Picture 15" descr="July 1887: James Blyth Harnesses the Wind for Electricity | American Physical Society">
            <a:extLst>
              <a:ext uri="{FF2B5EF4-FFF2-40B4-BE49-F238E27FC236}">
                <a16:creationId xmlns:a16="http://schemas.microsoft.com/office/drawing/2014/main" id="{1754A111-4348-959A-652A-3A5B968DCAA2}"/>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204" b="89703" l="9847" r="89716">
                        <a14:foregroundMark x1="15317" y1="17391" x2="15317" y2="17391"/>
                        <a14:foregroundMark x1="50985" y1="7094" x2="50985" y2="7094"/>
                        <a14:foregroundMark x1="48359" y1="3204" x2="48359" y2="3204"/>
                        <a14:foregroundMark x1="10941" y1="21739" x2="10941" y2="21739"/>
                      </a14:backgroundRemoval>
                    </a14:imgEffect>
                  </a14:imgLayer>
                </a14:imgProps>
              </a:ext>
            </a:extLst>
          </a:blip>
          <a:stretch>
            <a:fillRect/>
          </a:stretch>
        </p:blipFill>
        <p:spPr>
          <a:xfrm>
            <a:off x="85307" y="148922"/>
            <a:ext cx="1491175" cy="1425916"/>
          </a:xfrm>
          <a:prstGeom prst="rect">
            <a:avLst/>
          </a:prstGeom>
        </p:spPr>
      </p:pic>
    </p:spTree>
    <p:extLst>
      <p:ext uri="{BB962C8B-B14F-4D97-AF65-F5344CB8AC3E}">
        <p14:creationId xmlns:p14="http://schemas.microsoft.com/office/powerpoint/2010/main" val="81992048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randombar(horizontal)">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randombar(horizontal)">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additive="base">
                                        <p:cTn id="59" dur="500" fill="hold"/>
                                        <p:tgtEl>
                                          <p:spTgt spid="12"/>
                                        </p:tgtEl>
                                        <p:attrNameLst>
                                          <p:attrName>ppt_x</p:attrName>
                                        </p:attrNameLst>
                                      </p:cBhvr>
                                      <p:tavLst>
                                        <p:tav tm="0">
                                          <p:val>
                                            <p:strVal val="#ppt_x"/>
                                          </p:val>
                                        </p:tav>
                                        <p:tav tm="100000">
                                          <p:val>
                                            <p:strVal val="#ppt_x"/>
                                          </p:val>
                                        </p:tav>
                                      </p:tavLst>
                                    </p:anim>
                                    <p:anim calcmode="lin" valueType="num">
                                      <p:cBhvr additive="base">
                                        <p:cTn id="6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9"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4B9163-CF33-A0C1-D32C-B991FF8FD61B}"/>
              </a:ext>
            </a:extLst>
          </p:cNvPr>
          <p:cNvSpPr txBox="1"/>
          <p:nvPr/>
        </p:nvSpPr>
        <p:spPr>
          <a:xfrm>
            <a:off x="0" y="0"/>
            <a:ext cx="7596555" cy="461665"/>
          </a:xfrm>
          <a:prstGeom prst="rect">
            <a:avLst/>
          </a:prstGeom>
          <a:noFill/>
        </p:spPr>
        <p:txBody>
          <a:bodyPr wrap="square" rtlCol="0">
            <a:spAutoFit/>
          </a:bodyPr>
          <a:lstStyle/>
          <a:p>
            <a:r>
              <a:rPr lang="en-US" sz="2400" b="1" dirty="0">
                <a:solidFill>
                  <a:srgbClr val="F94CAF"/>
                </a:solidFill>
                <a:latin typeface="Inconsolata Bold" pitchFamily="1" charset="0"/>
                <a:ea typeface="Inconsolata Bold" pitchFamily="1" charset="0"/>
              </a:rPr>
              <a:t>The Highway Divider Concept &amp; Real-World Testing</a:t>
            </a:r>
            <a:endParaRPr lang="en-IN" sz="2400" b="1" dirty="0">
              <a:solidFill>
                <a:srgbClr val="F94CAF"/>
              </a:solidFill>
              <a:latin typeface="Inconsolata Bold" pitchFamily="1" charset="0"/>
              <a:ea typeface="Inconsolata Bold" pitchFamily="1" charset="0"/>
            </a:endParaRPr>
          </a:p>
        </p:txBody>
      </p:sp>
      <p:sp>
        <p:nvSpPr>
          <p:cNvPr id="3" name="Rectangle 2">
            <a:extLst>
              <a:ext uri="{FF2B5EF4-FFF2-40B4-BE49-F238E27FC236}">
                <a16:creationId xmlns:a16="http://schemas.microsoft.com/office/drawing/2014/main" id="{F6DDC51E-A540-3FAF-4645-F059EEEB3315}"/>
              </a:ext>
            </a:extLst>
          </p:cNvPr>
          <p:cNvSpPr/>
          <p:nvPr/>
        </p:nvSpPr>
        <p:spPr>
          <a:xfrm>
            <a:off x="893298" y="1033975"/>
            <a:ext cx="1765496" cy="1287194"/>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5" name="TextBox 4">
            <a:extLst>
              <a:ext uri="{FF2B5EF4-FFF2-40B4-BE49-F238E27FC236}">
                <a16:creationId xmlns:a16="http://schemas.microsoft.com/office/drawing/2014/main" id="{3DA7D08E-B3D1-D81C-C76D-71848C1400E8}"/>
              </a:ext>
            </a:extLst>
          </p:cNvPr>
          <p:cNvSpPr txBox="1"/>
          <p:nvPr/>
        </p:nvSpPr>
        <p:spPr>
          <a:xfrm>
            <a:off x="196946" y="445028"/>
            <a:ext cx="8215534" cy="2308324"/>
          </a:xfrm>
          <a:prstGeom prst="rect">
            <a:avLst/>
          </a:prstGeom>
          <a:noFill/>
        </p:spPr>
        <p:txBody>
          <a:bodyPr wrap="square">
            <a:spAutoFit/>
          </a:bodyPr>
          <a:lstStyle/>
          <a:p>
            <a:endParaRPr lang="en-IN" dirty="0">
              <a:solidFill>
                <a:srgbClr val="DAD1E6"/>
              </a:solidFill>
              <a:latin typeface="Fira Sans" panose="020B0503050000020004" pitchFamily="34" charset="0"/>
            </a:endParaRPr>
          </a:p>
          <a:p>
            <a:pPr marL="285750" indent="-285750">
              <a:buFont typeface="Arial" panose="020B0604020202020204" pitchFamily="34" charset="0"/>
              <a:buChar char="•"/>
            </a:pPr>
            <a:r>
              <a:rPr lang="en-IN" dirty="0">
                <a:solidFill>
                  <a:srgbClr val="DAD1E6"/>
                </a:solidFill>
                <a:latin typeface="Fira Sans" panose="020B0503050000020004" pitchFamily="34" charset="0"/>
              </a:rPr>
              <a:t>2010–2012 (Scientific Proof): University researchers in India and the US published studies proving that cars moving in opposite directions create a continuous, concentrated wind vortex over median dividers.​​</a:t>
            </a:r>
          </a:p>
          <a:p>
            <a:endParaRPr lang="en-IN" dirty="0">
              <a:solidFill>
                <a:srgbClr val="DAD1E6"/>
              </a:solidFill>
              <a:latin typeface="Fira Sans" panose="020B0503050000020004" pitchFamily="34" charset="0"/>
            </a:endParaRPr>
          </a:p>
          <a:p>
            <a:pPr marL="285750" indent="-285750">
              <a:buFont typeface="Arial" panose="020B0604020202020204" pitchFamily="34" charset="0"/>
              <a:buChar char="•"/>
            </a:pPr>
            <a:r>
              <a:rPr lang="en-IN" dirty="0">
                <a:solidFill>
                  <a:srgbClr val="DAD1E6"/>
                </a:solidFill>
                <a:latin typeface="Fira Sans" panose="020B0503050000020004" pitchFamily="34" charset="0"/>
              </a:rPr>
              <a:t>2017 (First Successful Commercial Trial): Kadir </a:t>
            </a:r>
            <a:r>
              <a:rPr lang="en-IN" dirty="0" err="1">
                <a:solidFill>
                  <a:srgbClr val="DAD1E6"/>
                </a:solidFill>
                <a:latin typeface="Fira Sans" panose="020B0503050000020004" pitchFamily="34" charset="0"/>
              </a:rPr>
              <a:t>Yürüten</a:t>
            </a:r>
            <a:r>
              <a:rPr lang="en-IN" dirty="0">
                <a:solidFill>
                  <a:srgbClr val="DAD1E6"/>
                </a:solidFill>
                <a:latin typeface="Fira Sans" panose="020B0503050000020004" pitchFamily="34" charset="0"/>
              </a:rPr>
              <a:t> (</a:t>
            </a:r>
            <a:r>
              <a:rPr lang="en-IN" dirty="0" err="1">
                <a:solidFill>
                  <a:srgbClr val="DAD1E6"/>
                </a:solidFill>
                <a:latin typeface="Fira Sans" panose="020B0503050000020004" pitchFamily="34" charset="0"/>
              </a:rPr>
              <a:t>Devecitech</a:t>
            </a:r>
            <a:r>
              <a:rPr lang="en-IN" dirty="0">
                <a:solidFill>
                  <a:srgbClr val="DAD1E6"/>
                </a:solidFill>
                <a:latin typeface="Fira Sans" panose="020B0503050000020004" pitchFamily="34" charset="0"/>
              </a:rPr>
              <a:t>) successfully deployed smart ENLIL turbines on Istanbul's highway dividers (Turkey) to power local sensors and streetlights</a:t>
            </a:r>
            <a:r>
              <a:rPr lang="en-IN" dirty="0">
                <a:latin typeface="Fira Sans" panose="020B0503050000020004" pitchFamily="34" charset="0"/>
              </a:rPr>
              <a:t>.</a:t>
            </a:r>
          </a:p>
        </p:txBody>
      </p:sp>
      <p:pic>
        <p:nvPicPr>
          <p:cNvPr id="7" name="Picture 6">
            <a:extLst>
              <a:ext uri="{FF2B5EF4-FFF2-40B4-BE49-F238E27FC236}">
                <a16:creationId xmlns:a16="http://schemas.microsoft.com/office/drawing/2014/main" id="{8D9676E1-5987-F68B-F201-B6B3E5DFFABB}"/>
              </a:ext>
            </a:extLst>
          </p:cNvPr>
          <p:cNvPicPr>
            <a:picLocks noChangeAspect="1"/>
          </p:cNvPicPr>
          <p:nvPr/>
        </p:nvPicPr>
        <p:blipFill>
          <a:blip r:embed="rId2"/>
          <a:srcRect l="21846" t="8799" r="29508"/>
          <a:stretch>
            <a:fillRect/>
          </a:stretch>
        </p:blipFill>
        <p:spPr>
          <a:xfrm>
            <a:off x="1365967" y="2978864"/>
            <a:ext cx="1931207" cy="2041104"/>
          </a:xfrm>
          <a:prstGeom prst="rect">
            <a:avLst/>
          </a:prstGeom>
          <a:ln>
            <a:noFill/>
          </a:ln>
        </p:spPr>
      </p:pic>
      <p:sp>
        <p:nvSpPr>
          <p:cNvPr id="6" name="Rectangle 5">
            <a:extLst>
              <a:ext uri="{FF2B5EF4-FFF2-40B4-BE49-F238E27FC236}">
                <a16:creationId xmlns:a16="http://schemas.microsoft.com/office/drawing/2014/main" id="{D0956155-8BF8-7140-7871-F321E33AE442}"/>
              </a:ext>
            </a:extLst>
          </p:cNvPr>
          <p:cNvSpPr/>
          <p:nvPr/>
        </p:nvSpPr>
        <p:spPr>
          <a:xfrm>
            <a:off x="7955280" y="4839518"/>
            <a:ext cx="1188720" cy="303982"/>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pic>
        <p:nvPicPr>
          <p:cNvPr id="8" name="Picture 7" descr="Sanwal Muneer | Design Indaba">
            <a:extLst>
              <a:ext uri="{FF2B5EF4-FFF2-40B4-BE49-F238E27FC236}">
                <a16:creationId xmlns:a16="http://schemas.microsoft.com/office/drawing/2014/main" id="{ADEF7612-C122-9AFC-C377-831217D1E4AA}"/>
              </a:ext>
            </a:extLst>
          </p:cNvPr>
          <p:cNvPicPr>
            <a:picLocks noChangeAspect="1"/>
          </p:cNvPicPr>
          <p:nvPr/>
        </p:nvPicPr>
        <p:blipFill>
          <a:blip r:embed="rId3"/>
          <a:srcRect l="32043" t="16326" r="31755"/>
          <a:stretch>
            <a:fillRect/>
          </a:stretch>
        </p:blipFill>
        <p:spPr>
          <a:xfrm>
            <a:off x="5939383" y="2978864"/>
            <a:ext cx="1569947" cy="20411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84476127"/>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nodePh="1">
                                  <p:stCondLst>
                                    <p:cond delay="0"/>
                                  </p:stCondLst>
                                  <p:endCondLst>
                                    <p:cond evt="begin" delay="0">
                                      <p:tn val="8"/>
                                    </p:cond>
                                  </p:end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986805"/>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94CAF"/>
                </a:solidFill>
                <a:latin typeface="Inconsolata Bold" pitchFamily="1" charset="0"/>
                <a:ea typeface="Inconsolata Bold" pitchFamily="1" charset="0"/>
              </a:rPr>
              <a:t>COMMUNITY PROBLEM</a:t>
            </a:r>
          </a:p>
        </p:txBody>
      </p:sp>
      <p:pic>
        <p:nvPicPr>
          <p:cNvPr id="3" name="Image 0" descr="preencoded.png"/>
          <p:cNvPicPr>
            <a:picLocks noChangeAspect="1"/>
          </p:cNvPicPr>
          <p:nvPr/>
        </p:nvPicPr>
        <p:blipFill>
          <a:blip r:embed="rId3"/>
          <a:stretch>
            <a:fillRect/>
          </a:stretch>
        </p:blipFill>
        <p:spPr>
          <a:xfrm>
            <a:off x="376544" y="1801862"/>
            <a:ext cx="3902943" cy="2195364"/>
          </a:xfrm>
          <a:prstGeom prst="rect">
            <a:avLst/>
          </a:prstGeom>
        </p:spPr>
      </p:pic>
      <p:sp>
        <p:nvSpPr>
          <p:cNvPr id="4" name="Text 1"/>
          <p:cNvSpPr/>
          <p:nvPr/>
        </p:nvSpPr>
        <p:spPr>
          <a:xfrm>
            <a:off x="4749701" y="1928515"/>
            <a:ext cx="3902943" cy="1942058"/>
          </a:xfrm>
          <a:prstGeom prst="rect">
            <a:avLst/>
          </a:prstGeom>
          <a:noFill/>
          <a:ln/>
        </p:spPr>
        <p:txBody>
          <a:bodyPr wrap="square" lIns="0" tIns="0" rIns="0" bIns="0" rtlCol="0" anchor="t">
            <a:normAutofit/>
          </a:bodyPr>
          <a:lstStyle/>
          <a:p>
            <a:pPr>
              <a:lnSpc>
                <a:spcPct val="133000"/>
              </a:lnSpc>
              <a:spcAft>
                <a:spcPts val="1000"/>
              </a:spcAft>
            </a:pPr>
            <a:r>
              <a:rPr lang="en-US" sz="1400" dirty="0">
                <a:solidFill>
                  <a:srgbClr val="DAD1E6"/>
                </a:solidFill>
                <a:latin typeface="Fira Sans" pitchFamily="34" charset="0"/>
                <a:ea typeface="Fira Sans" pitchFamily="34" charset="-122"/>
                <a:cs typeface="Fira Sans" pitchFamily="34" charset="-120"/>
              </a:rPr>
              <a:t> Electricity consumption exceed production on global stage and we are not capable to utilize it efficiently. </a:t>
            </a:r>
          </a:p>
          <a:p>
            <a:pPr>
              <a:lnSpc>
                <a:spcPct val="133000"/>
              </a:lnSpc>
              <a:spcAft>
                <a:spcPts val="1000"/>
              </a:spcAft>
            </a:pPr>
            <a:r>
              <a:rPr lang="en-US" sz="1400" dirty="0">
                <a:solidFill>
                  <a:srgbClr val="DAD1E6"/>
                </a:solidFill>
                <a:latin typeface="Fira Sans" pitchFamily="34" charset="0"/>
                <a:ea typeface="Fira Sans" pitchFamily="34" charset="-122"/>
                <a:cs typeface="Fira Sans" pitchFamily="34" charset="-120"/>
              </a:rPr>
              <a:t>Rising household consumption increases costs and carbon emissions.  </a:t>
            </a:r>
            <a:endParaRPr lang="en-US" sz="1400" dirty="0"/>
          </a:p>
        </p:txBody>
      </p:sp>
      <p:sp>
        <p:nvSpPr>
          <p:cNvPr id="7" name="Rectangle 6">
            <a:extLst>
              <a:ext uri="{FF2B5EF4-FFF2-40B4-BE49-F238E27FC236}">
                <a16:creationId xmlns:a16="http://schemas.microsoft.com/office/drawing/2014/main" id="{65F41536-02F3-D1F1-3FAC-3CCAFDF8726A}"/>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516285"/>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The Solution: Harnessing the Power of VAWT</a:t>
            </a:r>
            <a:endParaRPr lang="en-US" sz="2750" dirty="0"/>
          </a:p>
        </p:txBody>
      </p:sp>
      <p:sp>
        <p:nvSpPr>
          <p:cNvPr id="4" name="Text 1"/>
          <p:cNvSpPr/>
          <p:nvPr/>
        </p:nvSpPr>
        <p:spPr>
          <a:xfrm>
            <a:off x="3925119" y="1614860"/>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     Vertical Axis Wind Turbines capture wind from any direction, making them ideal for turbulent, variable urban flows.  Their compact footprint, simplified mounting and reduced maintenance make VAWTs well suited for residential and community-scale deployments.   </a:t>
            </a:r>
            <a:endParaRPr lang="en-US" sz="1100" dirty="0"/>
          </a:p>
        </p:txBody>
      </p:sp>
      <p:sp>
        <p:nvSpPr>
          <p:cNvPr id="5" name="Shape 2"/>
          <p:cNvSpPr/>
          <p:nvPr/>
        </p:nvSpPr>
        <p:spPr>
          <a:xfrm>
            <a:off x="3925119" y="2681585"/>
            <a:ext cx="1479724" cy="1945556"/>
          </a:xfrm>
          <a:prstGeom prst="roundRect">
            <a:avLst>
              <a:gd name="adj" fmla="val 1437"/>
            </a:avLst>
          </a:prstGeom>
          <a:solidFill>
            <a:srgbClr val="433550"/>
          </a:solidFill>
          <a:ln/>
        </p:spPr>
      </p:sp>
      <p:sp>
        <p:nvSpPr>
          <p:cNvPr id="6" name="Text 3"/>
          <p:cNvSpPr/>
          <p:nvPr/>
        </p:nvSpPr>
        <p:spPr>
          <a:xfrm>
            <a:off x="3960576" y="2823344"/>
            <a:ext cx="1337965"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Omnidirectional</a:t>
            </a:r>
            <a:endParaRPr lang="en-US" sz="1350" dirty="0"/>
          </a:p>
        </p:txBody>
      </p:sp>
      <p:sp>
        <p:nvSpPr>
          <p:cNvPr id="7" name="Text 4"/>
          <p:cNvSpPr/>
          <p:nvPr/>
        </p:nvSpPr>
        <p:spPr>
          <a:xfrm>
            <a:off x="4066877" y="3351312"/>
            <a:ext cx="1196206"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 mechanism — captures wind from any direction.</a:t>
            </a:r>
            <a:endParaRPr lang="en-US" sz="1100" dirty="0"/>
          </a:p>
        </p:txBody>
      </p:sp>
      <p:sp>
        <p:nvSpPr>
          <p:cNvPr id="8" name="Shape 5"/>
          <p:cNvSpPr/>
          <p:nvPr/>
        </p:nvSpPr>
        <p:spPr>
          <a:xfrm>
            <a:off x="5546601" y="2681585"/>
            <a:ext cx="1479724" cy="1945556"/>
          </a:xfrm>
          <a:prstGeom prst="roundRect">
            <a:avLst>
              <a:gd name="adj" fmla="val 1437"/>
            </a:avLst>
          </a:prstGeom>
          <a:solidFill>
            <a:srgbClr val="433550"/>
          </a:solidFill>
          <a:ln/>
        </p:spPr>
      </p:sp>
      <p:sp>
        <p:nvSpPr>
          <p:cNvPr id="9" name="Text 6"/>
          <p:cNvSpPr/>
          <p:nvPr/>
        </p:nvSpPr>
        <p:spPr>
          <a:xfrm>
            <a:off x="5688360" y="2823344"/>
            <a:ext cx="1196206"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Compact</a:t>
            </a:r>
            <a:endParaRPr lang="en-US" sz="1350" dirty="0"/>
          </a:p>
        </p:txBody>
      </p:sp>
      <p:sp>
        <p:nvSpPr>
          <p:cNvPr id="10" name="Text 7"/>
          <p:cNvSpPr/>
          <p:nvPr/>
        </p:nvSpPr>
        <p:spPr>
          <a:xfrm>
            <a:off x="5688360" y="3129855"/>
            <a:ext cx="1196206"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Smaller form factor fits rooftops and small plots.</a:t>
            </a:r>
            <a:endParaRPr lang="en-US" sz="1100" dirty="0"/>
          </a:p>
        </p:txBody>
      </p:sp>
      <p:sp>
        <p:nvSpPr>
          <p:cNvPr id="11" name="Shape 8"/>
          <p:cNvSpPr/>
          <p:nvPr/>
        </p:nvSpPr>
        <p:spPr>
          <a:xfrm>
            <a:off x="7168083" y="2681585"/>
            <a:ext cx="1479724" cy="1945556"/>
          </a:xfrm>
          <a:prstGeom prst="roundRect">
            <a:avLst>
              <a:gd name="adj" fmla="val 1437"/>
            </a:avLst>
          </a:prstGeom>
          <a:solidFill>
            <a:srgbClr val="433550"/>
          </a:solidFill>
          <a:ln/>
        </p:spPr>
      </p:sp>
      <p:sp>
        <p:nvSpPr>
          <p:cNvPr id="12" name="Text 9"/>
          <p:cNvSpPr/>
          <p:nvPr/>
        </p:nvSpPr>
        <p:spPr>
          <a:xfrm>
            <a:off x="7309842" y="2823344"/>
            <a:ext cx="1196206"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Low Maintenance</a:t>
            </a:r>
            <a:endParaRPr lang="en-US" sz="1350" dirty="0"/>
          </a:p>
        </p:txBody>
      </p:sp>
      <p:sp>
        <p:nvSpPr>
          <p:cNvPr id="13" name="Text 10"/>
          <p:cNvSpPr/>
          <p:nvPr/>
        </p:nvSpPr>
        <p:spPr>
          <a:xfrm>
            <a:off x="7309842" y="3351312"/>
            <a:ext cx="1196206"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Few moving parts and simpler bearings reduce upkeep.</a:t>
            </a:r>
            <a:endParaRPr lang="en-US" sz="1100" dirty="0"/>
          </a:p>
        </p:txBody>
      </p:sp>
      <p:sp>
        <p:nvSpPr>
          <p:cNvPr id="15" name="Rectangle 14">
            <a:extLst>
              <a:ext uri="{FF2B5EF4-FFF2-40B4-BE49-F238E27FC236}">
                <a16:creationId xmlns:a16="http://schemas.microsoft.com/office/drawing/2014/main" id="{002B935F-C40B-A192-7C34-0AFC44736C3F}"/>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randombar(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ppt_x"/>
                                          </p:val>
                                        </p:tav>
                                        <p:tav tm="100000">
                                          <p:val>
                                            <p:strVal val="#ppt_x"/>
                                          </p:val>
                                        </p:tav>
                                      </p:tavLst>
                                    </p:anim>
                                    <p:anim calcmode="lin" valueType="num">
                                      <p:cBhvr additive="base">
                                        <p:cTn id="2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additive="base">
                                        <p:cTn id="46" dur="500" fill="hold"/>
                                        <p:tgtEl>
                                          <p:spTgt spid="7"/>
                                        </p:tgtEl>
                                        <p:attrNameLst>
                                          <p:attrName>ppt_x</p:attrName>
                                        </p:attrNameLst>
                                      </p:cBhvr>
                                      <p:tavLst>
                                        <p:tav tm="0">
                                          <p:val>
                                            <p:strVal val="#ppt_x"/>
                                          </p:val>
                                        </p:tav>
                                        <p:tav tm="100000">
                                          <p:val>
                                            <p:strVal val="#ppt_x"/>
                                          </p:val>
                                        </p:tav>
                                      </p:tavLst>
                                    </p:anim>
                                    <p:anim calcmode="lin" valueType="num">
                                      <p:cBhvr additive="base">
                                        <p:cTn id="4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500" fill="hold"/>
                                        <p:tgtEl>
                                          <p:spTgt spid="10"/>
                                        </p:tgtEl>
                                        <p:attrNameLst>
                                          <p:attrName>ppt_x</p:attrName>
                                        </p:attrNameLst>
                                      </p:cBhvr>
                                      <p:tavLst>
                                        <p:tav tm="0">
                                          <p:val>
                                            <p:strVal val="#ppt_x"/>
                                          </p:val>
                                        </p:tav>
                                        <p:tav tm="100000">
                                          <p:val>
                                            <p:strVal val="#ppt_x"/>
                                          </p:val>
                                        </p:tav>
                                      </p:tavLst>
                                    </p:anim>
                                    <p:anim calcmode="lin" valueType="num">
                                      <p:cBhvr additive="base">
                                        <p:cTn id="5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additive="base">
                                        <p:cTn id="58" dur="500" fill="hold"/>
                                        <p:tgtEl>
                                          <p:spTgt spid="12"/>
                                        </p:tgtEl>
                                        <p:attrNameLst>
                                          <p:attrName>ppt_x</p:attrName>
                                        </p:attrNameLst>
                                      </p:cBhvr>
                                      <p:tavLst>
                                        <p:tav tm="0">
                                          <p:val>
                                            <p:strVal val="#ppt_x"/>
                                          </p:val>
                                        </p:tav>
                                        <p:tav tm="100000">
                                          <p:val>
                                            <p:strVal val="#ppt_x"/>
                                          </p:val>
                                        </p:tav>
                                      </p:tavLst>
                                    </p:anim>
                                    <p:anim calcmode="lin" valueType="num">
                                      <p:cBhvr additive="base">
                                        <p:cTn id="5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additive="base">
                                        <p:cTn id="64" dur="500" fill="hold"/>
                                        <p:tgtEl>
                                          <p:spTgt spid="13"/>
                                        </p:tgtEl>
                                        <p:attrNameLst>
                                          <p:attrName>ppt_x</p:attrName>
                                        </p:attrNameLst>
                                      </p:cBhvr>
                                      <p:tavLst>
                                        <p:tav tm="0">
                                          <p:val>
                                            <p:strVal val="#ppt_x"/>
                                          </p:val>
                                        </p:tav>
                                        <p:tav tm="100000">
                                          <p:val>
                                            <p:strVal val="#ppt_x"/>
                                          </p:val>
                                        </p:tav>
                                      </p:tavLst>
                                    </p:anim>
                                    <p:anim calcmode="lin" valueType="num">
                                      <p:cBhvr additive="base">
                                        <p:cTn id="6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9"/>
                                        </p:tgtEl>
                                        <p:attrNameLst>
                                          <p:attrName>style.visibility</p:attrName>
                                        </p:attrNameLst>
                                      </p:cBhvr>
                                      <p:to>
                                        <p:strVal val="visible"/>
                                      </p:to>
                                    </p:set>
                                    <p:anim calcmode="lin" valueType="num">
                                      <p:cBhvr additive="base">
                                        <p:cTn id="70" dur="500" fill="hold"/>
                                        <p:tgtEl>
                                          <p:spTgt spid="9"/>
                                        </p:tgtEl>
                                        <p:attrNameLst>
                                          <p:attrName>ppt_x</p:attrName>
                                        </p:attrNameLst>
                                      </p:cBhvr>
                                      <p:tavLst>
                                        <p:tav tm="0">
                                          <p:val>
                                            <p:strVal val="#ppt_x"/>
                                          </p:val>
                                        </p:tav>
                                        <p:tav tm="100000">
                                          <p:val>
                                            <p:strVal val="#ppt_x"/>
                                          </p:val>
                                        </p:tav>
                                      </p:tavLst>
                                    </p:anim>
                                    <p:anim calcmode="lin" valueType="num">
                                      <p:cBhvr additive="base">
                                        <p:cTn id="7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16522A-E9BF-1D7B-A301-D7ADADC9E9BF}"/>
              </a:ext>
            </a:extLst>
          </p:cNvPr>
          <p:cNvSpPr txBox="1"/>
          <p:nvPr/>
        </p:nvSpPr>
        <p:spPr>
          <a:xfrm>
            <a:off x="1012873" y="523220"/>
            <a:ext cx="3376246" cy="523220"/>
          </a:xfrm>
          <a:prstGeom prst="rect">
            <a:avLst/>
          </a:prstGeom>
          <a:noFill/>
        </p:spPr>
        <p:txBody>
          <a:bodyPr wrap="square" rtlCol="0">
            <a:spAutoFit/>
          </a:bodyPr>
          <a:lstStyle/>
          <a:p>
            <a:r>
              <a:rPr lang="en-IN" sz="2800" u="sng" dirty="0">
                <a:solidFill>
                  <a:srgbClr val="F94CAF"/>
                </a:solidFill>
                <a:latin typeface="Inconsolata Bold" pitchFamily="1" charset="0"/>
                <a:ea typeface="Inconsolata Bold" pitchFamily="1" charset="0"/>
              </a:rPr>
              <a:t>HOW DYNAMO WORKS</a:t>
            </a:r>
          </a:p>
        </p:txBody>
      </p:sp>
      <p:sp>
        <p:nvSpPr>
          <p:cNvPr id="5" name="TextBox 4">
            <a:extLst>
              <a:ext uri="{FF2B5EF4-FFF2-40B4-BE49-F238E27FC236}">
                <a16:creationId xmlns:a16="http://schemas.microsoft.com/office/drawing/2014/main" id="{82A2ACF6-7097-0E50-AAA1-70EF06A75E31}"/>
              </a:ext>
            </a:extLst>
          </p:cNvPr>
          <p:cNvSpPr txBox="1"/>
          <p:nvPr/>
        </p:nvSpPr>
        <p:spPr>
          <a:xfrm>
            <a:off x="351692" y="1307965"/>
            <a:ext cx="4572000" cy="2739211"/>
          </a:xfrm>
          <a:prstGeom prst="rect">
            <a:avLst/>
          </a:prstGeom>
          <a:noFill/>
        </p:spPr>
        <p:txBody>
          <a:bodyPr wrap="square">
            <a:spAutoFit/>
          </a:bodyPr>
          <a:lstStyle/>
          <a:p>
            <a:r>
              <a:rPr lang="en-IN" b="0" u="none" strike="noStrike" dirty="0">
                <a:solidFill>
                  <a:srgbClr val="DAD1E6"/>
                </a:solidFill>
                <a:effectLst/>
                <a:latin typeface="Fira Sans" panose="020B0503050000020004" pitchFamily="34" charset="0"/>
              </a:rPr>
              <a:t>A dynamo converts mechanical energy into electrical energy using </a:t>
            </a:r>
            <a:r>
              <a:rPr lang="en-IN" b="1" u="none" strike="noStrike" dirty="0">
                <a:solidFill>
                  <a:srgbClr val="DAD1E6"/>
                </a:solidFill>
                <a:effectLst/>
                <a:latin typeface="Fira Sans" panose="020B0503050000020004" pitchFamily="34" charset="0"/>
              </a:rPr>
              <a:t>electromagnetic induction</a:t>
            </a:r>
            <a:r>
              <a:rPr lang="en-IN" b="0" u="none" strike="noStrike" dirty="0">
                <a:solidFill>
                  <a:srgbClr val="DAD1E6"/>
                </a:solidFill>
                <a:effectLst/>
                <a:latin typeface="Fira Sans" panose="020B0503050000020004" pitchFamily="34" charset="0"/>
              </a:rPr>
              <a:t>. </a:t>
            </a:r>
          </a:p>
          <a:p>
            <a:endParaRPr lang="en-IN" dirty="0">
              <a:solidFill>
                <a:srgbClr val="DAD1E6"/>
              </a:solidFill>
              <a:latin typeface="Fira Sans" panose="020B0503050000020004" pitchFamily="34" charset="0"/>
            </a:endParaRPr>
          </a:p>
          <a:p>
            <a:r>
              <a:rPr lang="en-IN" b="0" u="none" strike="noStrike" dirty="0">
                <a:solidFill>
                  <a:srgbClr val="DAD1E6"/>
                </a:solidFill>
                <a:effectLst/>
                <a:latin typeface="Fira Sans" panose="020B0503050000020004" pitchFamily="34" charset="0"/>
              </a:rPr>
              <a:t>As a mechanical force rotates a coil of copper wire within a stationary magnetic field, the movement forces electrons in the wire to flow, creating an electric current.</a:t>
            </a:r>
            <a:r>
              <a:rPr lang="en-IN" sz="2800" dirty="0">
                <a:latin typeface="Fira Sans" panose="020B0503050000020004" pitchFamily="34" charset="0"/>
              </a:rPr>
              <a:t> </a:t>
            </a:r>
          </a:p>
        </p:txBody>
      </p:sp>
      <p:pic>
        <p:nvPicPr>
          <p:cNvPr id="6" name="Picture 5" descr="Bigshot: Learn - Power Generator - Dynamo">
            <a:extLst>
              <a:ext uri="{FF2B5EF4-FFF2-40B4-BE49-F238E27FC236}">
                <a16:creationId xmlns:a16="http://schemas.microsoft.com/office/drawing/2014/main" id="{8D025973-9AFE-15D0-2CF5-A74246F4F292}"/>
              </a:ext>
            </a:extLst>
          </p:cNvPr>
          <p:cNvPicPr>
            <a:picLocks noChangeAspect="1"/>
          </p:cNvPicPr>
          <p:nvPr/>
        </p:nvPicPr>
        <p:blipFill>
          <a:blip r:embed="rId2"/>
          <a:stretch>
            <a:fillRect/>
          </a:stretch>
        </p:blipFill>
        <p:spPr>
          <a:xfrm>
            <a:off x="5818103" y="523220"/>
            <a:ext cx="2656568" cy="3856308"/>
          </a:xfrm>
          <a:prstGeom prst="rect">
            <a:avLst/>
          </a:prstGeom>
        </p:spPr>
      </p:pic>
      <p:sp>
        <p:nvSpPr>
          <p:cNvPr id="4" name="Rectangle 3">
            <a:extLst>
              <a:ext uri="{FF2B5EF4-FFF2-40B4-BE49-F238E27FC236}">
                <a16:creationId xmlns:a16="http://schemas.microsoft.com/office/drawing/2014/main" id="{D779FA45-8885-FE5C-55D2-A0985E628D20}"/>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extLst>
      <p:ext uri="{BB962C8B-B14F-4D97-AF65-F5344CB8AC3E}">
        <p14:creationId xmlns:p14="http://schemas.microsoft.com/office/powerpoint/2010/main" val="257823166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534739"/>
            <a:ext cx="8151763" cy="387548"/>
          </a:xfrm>
          <a:prstGeom prst="rect">
            <a:avLst/>
          </a:prstGeom>
          <a:noFill/>
          <a:ln/>
        </p:spPr>
        <p:txBody>
          <a:bodyPr wrap="none" lIns="0" tIns="0" rIns="0" bIns="0" rtlCol="0" anchor="t"/>
          <a:lstStyle/>
          <a:p>
            <a:pPr marL="0" indent="0" algn="l">
              <a:lnSpc>
                <a:spcPct val="104000"/>
              </a:lnSpc>
              <a:buNone/>
            </a:pPr>
            <a:r>
              <a:rPr lang="en-US" sz="2800" b="1" dirty="0">
                <a:solidFill>
                  <a:srgbClr val="F94CAF"/>
                </a:solidFill>
                <a:latin typeface="Inconsolata Bold" pitchFamily="34" charset="0"/>
                <a:ea typeface="Inconsolata Bold" pitchFamily="34" charset="-122"/>
                <a:cs typeface="Inconsolata Bold" pitchFamily="34" charset="-120"/>
              </a:rPr>
              <a:t>Project Components: The Anatomy of the Turbine</a:t>
            </a:r>
            <a:endParaRPr lang="en-US" sz="2800" dirty="0"/>
          </a:p>
        </p:txBody>
      </p:sp>
      <p:sp>
        <p:nvSpPr>
          <p:cNvPr id="3" name="Text 1"/>
          <p:cNvSpPr/>
          <p:nvPr/>
        </p:nvSpPr>
        <p:spPr>
          <a:xfrm>
            <a:off x="496119" y="1139354"/>
            <a:ext cx="8151763" cy="372070"/>
          </a:xfrm>
          <a:prstGeom prst="rect">
            <a:avLst/>
          </a:prstGeom>
          <a:noFill/>
          <a:ln/>
        </p:spPr>
        <p:txBody>
          <a:bodyPr wrap="square" lIns="0" tIns="0" rIns="0" bIns="0" rtlCol="0" anchor="t">
            <a:normAutofit/>
          </a:bodyPr>
          <a:lstStyle/>
          <a:p>
            <a:pPr marL="0" indent="0" algn="l">
              <a:lnSpc>
                <a:spcPct val="125000"/>
              </a:lnSpc>
              <a:buNone/>
            </a:pPr>
            <a:endParaRPr lang="en-US" sz="950" dirty="0"/>
          </a:p>
        </p:txBody>
      </p:sp>
      <p:pic>
        <p:nvPicPr>
          <p:cNvPr id="4" name="Image 0" descr="preencoded.png"/>
          <p:cNvPicPr>
            <a:picLocks noChangeAspect="1"/>
          </p:cNvPicPr>
          <p:nvPr/>
        </p:nvPicPr>
        <p:blipFill>
          <a:blip r:embed="rId3"/>
          <a:stretch>
            <a:fillRect/>
          </a:stretch>
        </p:blipFill>
        <p:spPr>
          <a:xfrm>
            <a:off x="496119" y="1633463"/>
            <a:ext cx="561454" cy="561454"/>
          </a:xfrm>
          <a:prstGeom prst="rect">
            <a:avLst/>
          </a:prstGeom>
        </p:spPr>
      </p:pic>
      <p:sp>
        <p:nvSpPr>
          <p:cNvPr id="5" name="Text 2"/>
          <p:cNvSpPr/>
          <p:nvPr/>
        </p:nvSpPr>
        <p:spPr>
          <a:xfrm>
            <a:off x="1193229" y="1633463"/>
            <a:ext cx="1239069" cy="193849"/>
          </a:xfrm>
          <a:prstGeom prst="rect">
            <a:avLst/>
          </a:prstGeom>
          <a:noFill/>
          <a:ln/>
        </p:spPr>
        <p:txBody>
          <a:bodyPr wrap="none" lIns="0" tIns="0" rIns="0" bIns="0" rtlCol="0" anchor="t"/>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Arduino Uno</a:t>
            </a:r>
            <a:endParaRPr lang="en-US" sz="1200" dirty="0"/>
          </a:p>
        </p:txBody>
      </p:sp>
      <p:sp>
        <p:nvSpPr>
          <p:cNvPr id="6" name="Text 3"/>
          <p:cNvSpPr/>
          <p:nvPr/>
        </p:nvSpPr>
        <p:spPr>
          <a:xfrm>
            <a:off x="1193229" y="1892424"/>
            <a:ext cx="1239069" cy="744141"/>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Central controller for data acquisition, signal processing and control logic.</a:t>
            </a:r>
            <a:endParaRPr lang="en-US" sz="950" dirty="0"/>
          </a:p>
        </p:txBody>
      </p:sp>
      <p:pic>
        <p:nvPicPr>
          <p:cNvPr id="7" name="Image 1" descr="preencoded.png"/>
          <p:cNvPicPr>
            <a:picLocks noChangeAspect="1"/>
          </p:cNvPicPr>
          <p:nvPr/>
        </p:nvPicPr>
        <p:blipFill>
          <a:blip r:embed="rId4"/>
          <a:stretch>
            <a:fillRect/>
          </a:stretch>
        </p:blipFill>
        <p:spPr>
          <a:xfrm>
            <a:off x="2567955" y="1633463"/>
            <a:ext cx="561454" cy="561454"/>
          </a:xfrm>
          <a:prstGeom prst="rect">
            <a:avLst/>
          </a:prstGeom>
        </p:spPr>
      </p:pic>
      <p:sp>
        <p:nvSpPr>
          <p:cNvPr id="8" name="Text 4"/>
          <p:cNvSpPr/>
          <p:nvPr/>
        </p:nvSpPr>
        <p:spPr>
          <a:xfrm>
            <a:off x="3265066" y="1633463"/>
            <a:ext cx="1239069" cy="193849"/>
          </a:xfrm>
          <a:prstGeom prst="rect">
            <a:avLst/>
          </a:prstGeom>
          <a:noFill/>
          <a:ln/>
        </p:spPr>
        <p:txBody>
          <a:bodyPr wrap="none" lIns="0" tIns="0" rIns="0" bIns="0" rtlCol="0" anchor="t"/>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Current Sensor</a:t>
            </a:r>
            <a:endParaRPr lang="en-US" sz="1200" dirty="0"/>
          </a:p>
        </p:txBody>
      </p:sp>
      <p:sp>
        <p:nvSpPr>
          <p:cNvPr id="9" name="Text 5"/>
          <p:cNvSpPr/>
          <p:nvPr/>
        </p:nvSpPr>
        <p:spPr>
          <a:xfrm>
            <a:off x="3265066" y="1892424"/>
            <a:ext cx="1239069" cy="930176"/>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Monitors output current from the dynamo for power calculations and safety.</a:t>
            </a:r>
            <a:endParaRPr lang="en-US" sz="950" dirty="0"/>
          </a:p>
        </p:txBody>
      </p:sp>
      <p:pic>
        <p:nvPicPr>
          <p:cNvPr id="10" name="Image 2" descr="preencoded.png"/>
          <p:cNvPicPr>
            <a:picLocks noChangeAspect="1"/>
          </p:cNvPicPr>
          <p:nvPr/>
        </p:nvPicPr>
        <p:blipFill>
          <a:blip r:embed="rId5"/>
          <a:stretch>
            <a:fillRect/>
          </a:stretch>
        </p:blipFill>
        <p:spPr>
          <a:xfrm>
            <a:off x="4639791" y="1633463"/>
            <a:ext cx="561454" cy="561454"/>
          </a:xfrm>
          <a:prstGeom prst="rect">
            <a:avLst/>
          </a:prstGeom>
        </p:spPr>
      </p:pic>
      <p:sp>
        <p:nvSpPr>
          <p:cNvPr id="11" name="Text 6"/>
          <p:cNvSpPr/>
          <p:nvPr/>
        </p:nvSpPr>
        <p:spPr>
          <a:xfrm>
            <a:off x="5336902" y="1633463"/>
            <a:ext cx="1239069" cy="193849"/>
          </a:xfrm>
          <a:prstGeom prst="rect">
            <a:avLst/>
          </a:prstGeom>
          <a:noFill/>
          <a:ln/>
        </p:spPr>
        <p:txBody>
          <a:bodyPr wrap="none" lIns="0" tIns="0" rIns="0" bIns="0" rtlCol="0" anchor="t"/>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Voltage Sensor</a:t>
            </a:r>
            <a:endParaRPr lang="en-US" sz="1200" dirty="0"/>
          </a:p>
        </p:txBody>
      </p:sp>
      <p:sp>
        <p:nvSpPr>
          <p:cNvPr id="12" name="Text 7"/>
          <p:cNvSpPr/>
          <p:nvPr/>
        </p:nvSpPr>
        <p:spPr>
          <a:xfrm>
            <a:off x="5336902" y="1892424"/>
            <a:ext cx="1239069"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Measures generated voltage by dynamo</a:t>
            </a:r>
            <a:endParaRPr lang="en-US" sz="950" dirty="0"/>
          </a:p>
        </p:txBody>
      </p:sp>
      <p:pic>
        <p:nvPicPr>
          <p:cNvPr id="13" name="Image 3" descr="preencoded.png"/>
          <p:cNvPicPr>
            <a:picLocks noChangeAspect="1"/>
          </p:cNvPicPr>
          <p:nvPr/>
        </p:nvPicPr>
        <p:blipFill>
          <a:blip r:embed="rId6"/>
          <a:stretch>
            <a:fillRect/>
          </a:stretch>
        </p:blipFill>
        <p:spPr>
          <a:xfrm>
            <a:off x="6711628" y="1633463"/>
            <a:ext cx="561454" cy="561454"/>
          </a:xfrm>
          <a:prstGeom prst="rect">
            <a:avLst/>
          </a:prstGeom>
        </p:spPr>
      </p:pic>
      <p:sp>
        <p:nvSpPr>
          <p:cNvPr id="14" name="Text 8"/>
          <p:cNvSpPr/>
          <p:nvPr/>
        </p:nvSpPr>
        <p:spPr>
          <a:xfrm>
            <a:off x="7408738" y="1633463"/>
            <a:ext cx="1239143" cy="387697"/>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Hall Effect Sensor</a:t>
            </a:r>
            <a:endParaRPr lang="en-US" sz="1200" dirty="0"/>
          </a:p>
        </p:txBody>
      </p:sp>
      <p:sp>
        <p:nvSpPr>
          <p:cNvPr id="15" name="Text 9"/>
          <p:cNvSpPr/>
          <p:nvPr/>
        </p:nvSpPr>
        <p:spPr>
          <a:xfrm>
            <a:off x="7408738" y="2086273"/>
            <a:ext cx="1239143" cy="930176"/>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Detects RPM by reading magnets on the rotating shaft — essential for performance metrics.</a:t>
            </a:r>
            <a:endParaRPr lang="en-US" sz="950" dirty="0"/>
          </a:p>
        </p:txBody>
      </p:sp>
      <p:pic>
        <p:nvPicPr>
          <p:cNvPr id="16" name="Image 4" descr="preencoded.png"/>
          <p:cNvPicPr>
            <a:picLocks noChangeAspect="1"/>
          </p:cNvPicPr>
          <p:nvPr/>
        </p:nvPicPr>
        <p:blipFill>
          <a:blip r:embed="rId7"/>
          <a:stretch>
            <a:fillRect/>
          </a:stretch>
        </p:blipFill>
        <p:spPr>
          <a:xfrm>
            <a:off x="496119" y="3233514"/>
            <a:ext cx="561454" cy="561454"/>
          </a:xfrm>
          <a:prstGeom prst="rect">
            <a:avLst/>
          </a:prstGeom>
        </p:spPr>
      </p:pic>
      <p:sp>
        <p:nvSpPr>
          <p:cNvPr id="17" name="Text 10"/>
          <p:cNvSpPr/>
          <p:nvPr/>
        </p:nvSpPr>
        <p:spPr>
          <a:xfrm>
            <a:off x="1193229" y="3233514"/>
            <a:ext cx="1239069" cy="193849"/>
          </a:xfrm>
          <a:prstGeom prst="rect">
            <a:avLst/>
          </a:prstGeom>
          <a:noFill/>
          <a:ln/>
        </p:spPr>
        <p:txBody>
          <a:bodyPr wrap="none" lIns="0" tIns="0" rIns="0" bIns="0" rtlCol="0" anchor="t"/>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DHT11 Sensor</a:t>
            </a:r>
            <a:endParaRPr lang="en-US" sz="1200" dirty="0"/>
          </a:p>
        </p:txBody>
      </p:sp>
      <p:sp>
        <p:nvSpPr>
          <p:cNvPr id="18" name="Text 11"/>
          <p:cNvSpPr/>
          <p:nvPr/>
        </p:nvSpPr>
        <p:spPr>
          <a:xfrm>
            <a:off x="1193229" y="3492475"/>
            <a:ext cx="1239069" cy="1116211"/>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L temperature and humidity to correlate environmental conditions with output.</a:t>
            </a:r>
            <a:endParaRPr lang="en-US" sz="950" dirty="0"/>
          </a:p>
        </p:txBody>
      </p:sp>
      <p:pic>
        <p:nvPicPr>
          <p:cNvPr id="19" name="Image 5" descr="preencoded.png"/>
          <p:cNvPicPr>
            <a:picLocks noChangeAspect="1"/>
          </p:cNvPicPr>
          <p:nvPr/>
        </p:nvPicPr>
        <p:blipFill>
          <a:blip r:embed="rId8"/>
          <a:stretch>
            <a:fillRect/>
          </a:stretch>
        </p:blipFill>
        <p:spPr>
          <a:xfrm>
            <a:off x="2567955" y="3233514"/>
            <a:ext cx="561454" cy="561454"/>
          </a:xfrm>
          <a:prstGeom prst="rect">
            <a:avLst/>
          </a:prstGeom>
        </p:spPr>
      </p:pic>
      <p:sp>
        <p:nvSpPr>
          <p:cNvPr id="20" name="Text 12"/>
          <p:cNvSpPr/>
          <p:nvPr/>
        </p:nvSpPr>
        <p:spPr>
          <a:xfrm>
            <a:off x="3265066" y="3233514"/>
            <a:ext cx="1239069" cy="193849"/>
          </a:xfrm>
          <a:prstGeom prst="rect">
            <a:avLst/>
          </a:prstGeom>
          <a:noFill/>
          <a:ln/>
        </p:spPr>
        <p:txBody>
          <a:bodyPr wrap="none" lIns="0" tIns="0" rIns="0" bIns="0" rtlCol="0" anchor="t"/>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Breadboard</a:t>
            </a:r>
            <a:endParaRPr lang="en-US" sz="1200" dirty="0"/>
          </a:p>
        </p:txBody>
      </p:sp>
      <p:sp>
        <p:nvSpPr>
          <p:cNvPr id="21" name="Text 13"/>
          <p:cNvSpPr/>
          <p:nvPr/>
        </p:nvSpPr>
        <p:spPr>
          <a:xfrm>
            <a:off x="3265066" y="3492475"/>
            <a:ext cx="1239069" cy="744141"/>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Prototyping platform for sensor connections and temporary circuits.</a:t>
            </a:r>
            <a:endParaRPr lang="en-US" sz="950" dirty="0"/>
          </a:p>
        </p:txBody>
      </p:sp>
      <p:pic>
        <p:nvPicPr>
          <p:cNvPr id="22" name="Image 6" descr="preencoded.png"/>
          <p:cNvPicPr>
            <a:picLocks noChangeAspect="1"/>
          </p:cNvPicPr>
          <p:nvPr/>
        </p:nvPicPr>
        <p:blipFill>
          <a:blip r:embed="rId9"/>
          <a:stretch>
            <a:fillRect/>
          </a:stretch>
        </p:blipFill>
        <p:spPr>
          <a:xfrm>
            <a:off x="4639791" y="3233514"/>
            <a:ext cx="561454" cy="561454"/>
          </a:xfrm>
          <a:prstGeom prst="rect">
            <a:avLst/>
          </a:prstGeom>
        </p:spPr>
      </p:pic>
      <p:sp>
        <p:nvSpPr>
          <p:cNvPr id="23" name="Text 14"/>
          <p:cNvSpPr/>
          <p:nvPr/>
        </p:nvSpPr>
        <p:spPr>
          <a:xfrm>
            <a:off x="5336902" y="3233514"/>
            <a:ext cx="1239069" cy="193849"/>
          </a:xfrm>
          <a:prstGeom prst="rect">
            <a:avLst/>
          </a:prstGeom>
          <a:noFill/>
          <a:ln/>
        </p:spPr>
        <p:txBody>
          <a:bodyPr wrap="none" lIns="0" tIns="0" rIns="0" bIns="0" rtlCol="0" anchor="t"/>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LED Indicators</a:t>
            </a:r>
            <a:endParaRPr lang="en-US" sz="1200" dirty="0"/>
          </a:p>
        </p:txBody>
      </p:sp>
      <p:sp>
        <p:nvSpPr>
          <p:cNvPr id="24" name="Text 15"/>
          <p:cNvSpPr/>
          <p:nvPr/>
        </p:nvSpPr>
        <p:spPr>
          <a:xfrm>
            <a:off x="5336902" y="3492475"/>
            <a:ext cx="1239069"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Visual status signals .(streetlight)</a:t>
            </a:r>
            <a:endParaRPr lang="en-US" sz="950" dirty="0"/>
          </a:p>
        </p:txBody>
      </p:sp>
      <p:pic>
        <p:nvPicPr>
          <p:cNvPr id="25" name="Image 7" descr="preencoded.png"/>
          <p:cNvPicPr>
            <a:picLocks noChangeAspect="1"/>
          </p:cNvPicPr>
          <p:nvPr/>
        </p:nvPicPr>
        <p:blipFill>
          <a:blip r:embed="rId10"/>
          <a:stretch>
            <a:fillRect/>
          </a:stretch>
        </p:blipFill>
        <p:spPr>
          <a:xfrm>
            <a:off x="6711628" y="3233514"/>
            <a:ext cx="561454" cy="561454"/>
          </a:xfrm>
          <a:prstGeom prst="rect">
            <a:avLst/>
          </a:prstGeom>
        </p:spPr>
      </p:pic>
      <p:sp>
        <p:nvSpPr>
          <p:cNvPr id="26" name="Text 16"/>
          <p:cNvSpPr/>
          <p:nvPr/>
        </p:nvSpPr>
        <p:spPr>
          <a:xfrm>
            <a:off x="7408738" y="3233514"/>
            <a:ext cx="1239143" cy="193849"/>
          </a:xfrm>
          <a:prstGeom prst="rect">
            <a:avLst/>
          </a:prstGeom>
          <a:noFill/>
          <a:ln/>
        </p:spPr>
        <p:txBody>
          <a:bodyPr wrap="none" lIns="0" tIns="0" rIns="0" bIns="0" rtlCol="0" anchor="t"/>
          <a:lstStyle/>
          <a:p>
            <a:pPr marL="0" indent="0" algn="l">
              <a:lnSpc>
                <a:spcPct val="104000"/>
              </a:lnSpc>
              <a:buNone/>
            </a:pPr>
            <a:r>
              <a:rPr lang="en-US" sz="1200" b="1" dirty="0">
                <a:solidFill>
                  <a:srgbClr val="DAD1E6"/>
                </a:solidFill>
                <a:latin typeface="Inconsolata Bold" pitchFamily="34" charset="0"/>
                <a:ea typeface="Inconsolata Bold" pitchFamily="34" charset="-122"/>
                <a:cs typeface="Inconsolata Bold" pitchFamily="34" charset="-120"/>
              </a:rPr>
              <a:t>Dynamo Motor</a:t>
            </a:r>
            <a:endParaRPr lang="en-US" sz="1200" dirty="0"/>
          </a:p>
        </p:txBody>
      </p:sp>
      <p:sp>
        <p:nvSpPr>
          <p:cNvPr id="27" name="Text 17"/>
          <p:cNvSpPr/>
          <p:nvPr/>
        </p:nvSpPr>
        <p:spPr>
          <a:xfrm>
            <a:off x="7408738" y="3492475"/>
            <a:ext cx="1239143" cy="1116211"/>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DAD1E6"/>
                </a:solidFill>
                <a:latin typeface="Fira Sans" pitchFamily="34" charset="0"/>
                <a:ea typeface="Fira Sans" pitchFamily="34" charset="-122"/>
                <a:cs typeface="Fira Sans" pitchFamily="34" charset="-120"/>
              </a:rPr>
              <a:t>Primary generator converting rotational motion into electrical energy; wired through rectification and regulation stages.</a:t>
            </a:r>
            <a:endParaRPr lang="en-US" sz="950" dirty="0"/>
          </a:p>
        </p:txBody>
      </p:sp>
      <p:sp>
        <p:nvSpPr>
          <p:cNvPr id="29" name="Rectangle 28">
            <a:extLst>
              <a:ext uri="{FF2B5EF4-FFF2-40B4-BE49-F238E27FC236}">
                <a16:creationId xmlns:a16="http://schemas.microsoft.com/office/drawing/2014/main" id="{AD59B118-C1AA-4170-24F2-D78EA253CBBB}"/>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9" dur="500"/>
                                        <p:tgtEl>
                                          <p:spTgt spid="6">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animEffect transition="in" filter="randombar(horizontal)">
                                      <p:cBhvr>
                                        <p:cTn id="36" dur="500"/>
                                        <p:tgtEl>
                                          <p:spTgt spid="9">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randombar(horizontal)">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additive="base">
                                        <p:cTn id="58" dur="500" fill="hold"/>
                                        <p:tgtEl>
                                          <p:spTgt spid="13"/>
                                        </p:tgtEl>
                                        <p:attrNameLst>
                                          <p:attrName>ppt_x</p:attrName>
                                        </p:attrNameLst>
                                      </p:cBhvr>
                                      <p:tavLst>
                                        <p:tav tm="0">
                                          <p:val>
                                            <p:strVal val="#ppt_x"/>
                                          </p:val>
                                        </p:tav>
                                        <p:tav tm="100000">
                                          <p:val>
                                            <p:strVal val="#ppt_x"/>
                                          </p:val>
                                        </p:tav>
                                      </p:tavLst>
                                    </p:anim>
                                    <p:anim calcmode="lin" valueType="num">
                                      <p:cBhvr additive="base">
                                        <p:cTn id="5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500" fill="hold"/>
                                        <p:tgtEl>
                                          <p:spTgt spid="14"/>
                                        </p:tgtEl>
                                        <p:attrNameLst>
                                          <p:attrName>ppt_x</p:attrName>
                                        </p:attrNameLst>
                                      </p:cBhvr>
                                      <p:tavLst>
                                        <p:tav tm="0">
                                          <p:val>
                                            <p:strVal val="#ppt_x"/>
                                          </p:val>
                                        </p:tav>
                                        <p:tav tm="100000">
                                          <p:val>
                                            <p:strVal val="#ppt_x"/>
                                          </p:val>
                                        </p:tav>
                                      </p:tavLst>
                                    </p:anim>
                                    <p:anim calcmode="lin" valueType="num">
                                      <p:cBhvr additive="base">
                                        <p:cTn id="6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randombar(horizontal)">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6"/>
                                        </p:tgtEl>
                                        <p:attrNameLst>
                                          <p:attrName>style.visibility</p:attrName>
                                        </p:attrNameLst>
                                      </p:cBhvr>
                                      <p:to>
                                        <p:strVal val="visible"/>
                                      </p:to>
                                    </p:set>
                                    <p:anim calcmode="lin" valueType="num">
                                      <p:cBhvr additive="base">
                                        <p:cTn id="75" dur="500" fill="hold"/>
                                        <p:tgtEl>
                                          <p:spTgt spid="16"/>
                                        </p:tgtEl>
                                        <p:attrNameLst>
                                          <p:attrName>ppt_x</p:attrName>
                                        </p:attrNameLst>
                                      </p:cBhvr>
                                      <p:tavLst>
                                        <p:tav tm="0">
                                          <p:val>
                                            <p:strVal val="#ppt_x"/>
                                          </p:val>
                                        </p:tav>
                                        <p:tav tm="100000">
                                          <p:val>
                                            <p:strVal val="#ppt_x"/>
                                          </p:val>
                                        </p:tav>
                                      </p:tavLst>
                                    </p:anim>
                                    <p:anim calcmode="lin" valueType="num">
                                      <p:cBhvr additive="base">
                                        <p:cTn id="7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additive="base">
                                        <p:cTn id="81" dur="500" fill="hold"/>
                                        <p:tgtEl>
                                          <p:spTgt spid="17"/>
                                        </p:tgtEl>
                                        <p:attrNameLst>
                                          <p:attrName>ppt_x</p:attrName>
                                        </p:attrNameLst>
                                      </p:cBhvr>
                                      <p:tavLst>
                                        <p:tav tm="0">
                                          <p:val>
                                            <p:strVal val="#ppt_x"/>
                                          </p:val>
                                        </p:tav>
                                        <p:tav tm="100000">
                                          <p:val>
                                            <p:strVal val="#ppt_x"/>
                                          </p:val>
                                        </p:tav>
                                      </p:tavLst>
                                    </p:anim>
                                    <p:anim calcmode="lin" valueType="num">
                                      <p:cBhvr additive="base">
                                        <p:cTn id="8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randombar(horizontal)">
                                      <p:cBhvr>
                                        <p:cTn id="87" dur="5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500" fill="hold"/>
                                        <p:tgtEl>
                                          <p:spTgt spid="19"/>
                                        </p:tgtEl>
                                        <p:attrNameLst>
                                          <p:attrName>ppt_x</p:attrName>
                                        </p:attrNameLst>
                                      </p:cBhvr>
                                      <p:tavLst>
                                        <p:tav tm="0">
                                          <p:val>
                                            <p:strVal val="#ppt_x"/>
                                          </p:val>
                                        </p:tav>
                                        <p:tav tm="100000">
                                          <p:val>
                                            <p:strVal val="#ppt_x"/>
                                          </p:val>
                                        </p:tav>
                                      </p:tavLst>
                                    </p:anim>
                                    <p:anim calcmode="lin" valueType="num">
                                      <p:cBhvr additive="base">
                                        <p:cTn id="9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20"/>
                                        </p:tgtEl>
                                        <p:attrNameLst>
                                          <p:attrName>style.visibility</p:attrName>
                                        </p:attrNameLst>
                                      </p:cBhvr>
                                      <p:to>
                                        <p:strVal val="visible"/>
                                      </p:to>
                                    </p:set>
                                    <p:anim calcmode="lin" valueType="num">
                                      <p:cBhvr additive="base">
                                        <p:cTn id="98" dur="500" fill="hold"/>
                                        <p:tgtEl>
                                          <p:spTgt spid="20"/>
                                        </p:tgtEl>
                                        <p:attrNameLst>
                                          <p:attrName>ppt_x</p:attrName>
                                        </p:attrNameLst>
                                      </p:cBhvr>
                                      <p:tavLst>
                                        <p:tav tm="0">
                                          <p:val>
                                            <p:strVal val="#ppt_x"/>
                                          </p:val>
                                        </p:tav>
                                        <p:tav tm="100000">
                                          <p:val>
                                            <p:strVal val="#ppt_x"/>
                                          </p:val>
                                        </p:tav>
                                      </p:tavLst>
                                    </p:anim>
                                    <p:anim calcmode="lin" valueType="num">
                                      <p:cBhvr additive="base">
                                        <p:cTn id="9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4" presetClass="entr" presetSubtype="10" fill="hold" grpId="0" nodeType="click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randombar(horizontal)">
                                      <p:cBhvr>
                                        <p:cTn id="104" dur="500"/>
                                        <p:tgtEl>
                                          <p:spTgt spid="21"/>
                                        </p:tgtEl>
                                      </p:cBhvr>
                                    </p:animEffect>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additive="base">
                                        <p:cTn id="109" dur="500" fill="hold"/>
                                        <p:tgtEl>
                                          <p:spTgt spid="22"/>
                                        </p:tgtEl>
                                        <p:attrNameLst>
                                          <p:attrName>ppt_x</p:attrName>
                                        </p:attrNameLst>
                                      </p:cBhvr>
                                      <p:tavLst>
                                        <p:tav tm="0">
                                          <p:val>
                                            <p:strVal val="#ppt_x"/>
                                          </p:val>
                                        </p:tav>
                                        <p:tav tm="100000">
                                          <p:val>
                                            <p:strVal val="#ppt_x"/>
                                          </p:val>
                                        </p:tav>
                                      </p:tavLst>
                                    </p:anim>
                                    <p:anim calcmode="lin" valueType="num">
                                      <p:cBhvr additive="base">
                                        <p:cTn id="11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23"/>
                                        </p:tgtEl>
                                        <p:attrNameLst>
                                          <p:attrName>style.visibility</p:attrName>
                                        </p:attrNameLst>
                                      </p:cBhvr>
                                      <p:to>
                                        <p:strVal val="visible"/>
                                      </p:to>
                                    </p:set>
                                    <p:anim calcmode="lin" valueType="num">
                                      <p:cBhvr additive="base">
                                        <p:cTn id="115" dur="500" fill="hold"/>
                                        <p:tgtEl>
                                          <p:spTgt spid="23"/>
                                        </p:tgtEl>
                                        <p:attrNameLst>
                                          <p:attrName>ppt_x</p:attrName>
                                        </p:attrNameLst>
                                      </p:cBhvr>
                                      <p:tavLst>
                                        <p:tav tm="0">
                                          <p:val>
                                            <p:strVal val="#ppt_x"/>
                                          </p:val>
                                        </p:tav>
                                        <p:tav tm="100000">
                                          <p:val>
                                            <p:strVal val="#ppt_x"/>
                                          </p:val>
                                        </p:tav>
                                      </p:tavLst>
                                    </p:anim>
                                    <p:anim calcmode="lin" valueType="num">
                                      <p:cBhvr additive="base">
                                        <p:cTn id="11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14" presetClass="entr" presetSubtype="10" fill="hold" grpId="0" nodeType="click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randombar(horizontal)">
                                      <p:cBhvr>
                                        <p:cTn id="121" dur="500"/>
                                        <p:tgtEl>
                                          <p:spTgt spid="24"/>
                                        </p:tgtEl>
                                      </p:cBhvr>
                                    </p:animEffect>
                                  </p:childTnLst>
                                </p:cTn>
                              </p:par>
                            </p:childTnLst>
                          </p:cTn>
                        </p:par>
                      </p:childTnLst>
                    </p:cTn>
                  </p:par>
                  <p:par>
                    <p:cTn id="122" fill="hold">
                      <p:stCondLst>
                        <p:cond delay="indefinite"/>
                      </p:stCondLst>
                      <p:childTnLst>
                        <p:par>
                          <p:cTn id="123" fill="hold">
                            <p:stCondLst>
                              <p:cond delay="0"/>
                            </p:stCondLst>
                            <p:childTnLst>
                              <p:par>
                                <p:cTn id="124" presetID="2" presetClass="entr" presetSubtype="4" fill="hold" nodeType="clickEffect">
                                  <p:stCondLst>
                                    <p:cond delay="0"/>
                                  </p:stCondLst>
                                  <p:childTnLst>
                                    <p:set>
                                      <p:cBhvr>
                                        <p:cTn id="125" dur="1" fill="hold">
                                          <p:stCondLst>
                                            <p:cond delay="0"/>
                                          </p:stCondLst>
                                        </p:cTn>
                                        <p:tgtEl>
                                          <p:spTgt spid="25"/>
                                        </p:tgtEl>
                                        <p:attrNameLst>
                                          <p:attrName>style.visibility</p:attrName>
                                        </p:attrNameLst>
                                      </p:cBhvr>
                                      <p:to>
                                        <p:strVal val="visible"/>
                                      </p:to>
                                    </p:set>
                                    <p:anim calcmode="lin" valueType="num">
                                      <p:cBhvr additive="base">
                                        <p:cTn id="126" dur="500" fill="hold"/>
                                        <p:tgtEl>
                                          <p:spTgt spid="25"/>
                                        </p:tgtEl>
                                        <p:attrNameLst>
                                          <p:attrName>ppt_x</p:attrName>
                                        </p:attrNameLst>
                                      </p:cBhvr>
                                      <p:tavLst>
                                        <p:tav tm="0">
                                          <p:val>
                                            <p:strVal val="#ppt_x"/>
                                          </p:val>
                                        </p:tav>
                                        <p:tav tm="100000">
                                          <p:val>
                                            <p:strVal val="#ppt_x"/>
                                          </p:val>
                                        </p:tav>
                                      </p:tavLst>
                                    </p:anim>
                                    <p:anim calcmode="lin" valueType="num">
                                      <p:cBhvr additive="base">
                                        <p:cTn id="127"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26"/>
                                        </p:tgtEl>
                                        <p:attrNameLst>
                                          <p:attrName>style.visibility</p:attrName>
                                        </p:attrNameLst>
                                      </p:cBhvr>
                                      <p:to>
                                        <p:strVal val="visible"/>
                                      </p:to>
                                    </p:set>
                                    <p:anim calcmode="lin" valueType="num">
                                      <p:cBhvr additive="base">
                                        <p:cTn id="132" dur="500" fill="hold"/>
                                        <p:tgtEl>
                                          <p:spTgt spid="26"/>
                                        </p:tgtEl>
                                        <p:attrNameLst>
                                          <p:attrName>ppt_x</p:attrName>
                                        </p:attrNameLst>
                                      </p:cBhvr>
                                      <p:tavLst>
                                        <p:tav tm="0">
                                          <p:val>
                                            <p:strVal val="#ppt_x"/>
                                          </p:val>
                                        </p:tav>
                                        <p:tav tm="100000">
                                          <p:val>
                                            <p:strVal val="#ppt_x"/>
                                          </p:val>
                                        </p:tav>
                                      </p:tavLst>
                                    </p:anim>
                                    <p:anim calcmode="lin" valueType="num">
                                      <p:cBhvr additive="base">
                                        <p:cTn id="13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grpId="0" nodeType="clickEffect">
                                  <p:stCondLst>
                                    <p:cond delay="0"/>
                                  </p:stCondLst>
                                  <p:childTnLst>
                                    <p:set>
                                      <p:cBhvr>
                                        <p:cTn id="137" dur="1" fill="hold">
                                          <p:stCondLst>
                                            <p:cond delay="0"/>
                                          </p:stCondLst>
                                        </p:cTn>
                                        <p:tgtEl>
                                          <p:spTgt spid="27"/>
                                        </p:tgtEl>
                                        <p:attrNameLst>
                                          <p:attrName>style.visibility</p:attrName>
                                        </p:attrNameLst>
                                      </p:cBhvr>
                                      <p:to>
                                        <p:strVal val="visible"/>
                                      </p:to>
                                    </p:set>
                                    <p:anim calcmode="lin" valueType="num">
                                      <p:cBhvr additive="base">
                                        <p:cTn id="138" dur="500" fill="hold"/>
                                        <p:tgtEl>
                                          <p:spTgt spid="27"/>
                                        </p:tgtEl>
                                        <p:attrNameLst>
                                          <p:attrName>ppt_x</p:attrName>
                                        </p:attrNameLst>
                                      </p:cBhvr>
                                      <p:tavLst>
                                        <p:tav tm="0">
                                          <p:val>
                                            <p:strVal val="#ppt_x"/>
                                          </p:val>
                                        </p:tav>
                                        <p:tav tm="100000">
                                          <p:val>
                                            <p:strVal val="#ppt_x"/>
                                          </p:val>
                                        </p:tav>
                                      </p:tavLst>
                                    </p:anim>
                                    <p:anim calcmode="lin" valueType="num">
                                      <p:cBhvr additive="base">
                                        <p:cTn id="139"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51321"/>
            <a:ext cx="8151763" cy="442987"/>
          </a:xfrm>
          <a:prstGeom prst="rect">
            <a:avLst/>
          </a:prstGeom>
          <a:noFill/>
          <a:ln/>
        </p:spPr>
        <p:txBody>
          <a:bodyPr wrap="none" lIns="0" tIns="0" rIns="0" bIns="0" rtlCol="0" anchor="t"/>
          <a:lstStyle/>
          <a:p>
            <a:pPr marL="0" indent="0" algn="l">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How It Works: The Technical Process</a:t>
            </a:r>
            <a:endParaRPr lang="en-US" sz="2750" dirty="0"/>
          </a:p>
        </p:txBody>
      </p:sp>
      <p:pic>
        <p:nvPicPr>
          <p:cNvPr id="3" name="Image 0" descr="preencoded.png"/>
          <p:cNvPicPr>
            <a:picLocks noChangeAspect="1"/>
          </p:cNvPicPr>
          <p:nvPr/>
        </p:nvPicPr>
        <p:blipFill>
          <a:blip r:embed="rId3"/>
          <a:stretch>
            <a:fillRect/>
          </a:stretch>
        </p:blipFill>
        <p:spPr>
          <a:xfrm>
            <a:off x="1402407" y="1177826"/>
            <a:ext cx="6339185" cy="2901255"/>
          </a:xfrm>
          <a:prstGeom prst="rect">
            <a:avLst/>
          </a:prstGeom>
        </p:spPr>
      </p:pic>
      <p:sp>
        <p:nvSpPr>
          <p:cNvPr id="4" name="Text 1"/>
          <p:cNvSpPr/>
          <p:nvPr/>
        </p:nvSpPr>
        <p:spPr>
          <a:xfrm>
            <a:off x="6256361" y="3275491"/>
            <a:ext cx="1190142" cy="458531"/>
          </a:xfrm>
          <a:prstGeom prst="rect">
            <a:avLst/>
          </a:prstGeom>
          <a:noFill/>
          <a:ln/>
        </p:spPr>
        <p:txBody>
          <a:bodyPr wrap="square" lIns="0" tIns="0" rIns="0" bIns="0" rtlCol="0" anchor="t">
            <a:normAutofit/>
          </a:bodyPr>
          <a:lstStyle/>
          <a:p>
            <a:pPr marL="0" indent="0" algn="ctr">
              <a:lnSpc>
                <a:spcPct val="104000"/>
              </a:lnSpc>
              <a:buNone/>
            </a:pPr>
            <a:r>
              <a:rPr lang="en-US" sz="1400" b="1" dirty="0">
                <a:solidFill>
                  <a:srgbClr val="DAD1E6"/>
                </a:solidFill>
                <a:latin typeface="Inconsolata Bold" pitchFamily="34" charset="0"/>
                <a:ea typeface="Inconsolata Bold" pitchFamily="34" charset="-122"/>
                <a:cs typeface="Inconsolata Bold" pitchFamily="34" charset="-120"/>
              </a:rPr>
              <a:t>Arduino Monitors</a:t>
            </a:r>
            <a:endParaRPr lang="en-US" sz="1400" dirty="0"/>
          </a:p>
        </p:txBody>
      </p:sp>
      <p:sp>
        <p:nvSpPr>
          <p:cNvPr id="5" name="Text 2"/>
          <p:cNvSpPr/>
          <p:nvPr/>
        </p:nvSpPr>
        <p:spPr>
          <a:xfrm>
            <a:off x="4756456" y="3387843"/>
            <a:ext cx="1190143" cy="458531"/>
          </a:xfrm>
          <a:prstGeom prst="rect">
            <a:avLst/>
          </a:prstGeom>
          <a:noFill/>
          <a:ln/>
        </p:spPr>
        <p:txBody>
          <a:bodyPr wrap="square" lIns="0" tIns="0" rIns="0" bIns="0" rtlCol="0" anchor="t">
            <a:normAutofit fontScale="77500" lnSpcReduction="20000"/>
          </a:bodyPr>
          <a:lstStyle/>
          <a:p>
            <a:pPr marL="0" indent="0" algn="ctr">
              <a:lnSpc>
                <a:spcPct val="104000"/>
              </a:lnSpc>
              <a:buNone/>
            </a:pPr>
            <a:r>
              <a:rPr lang="en-US" sz="1400" b="1" dirty="0">
                <a:solidFill>
                  <a:srgbClr val="DAD1E6"/>
                </a:solidFill>
                <a:latin typeface="Inconsolata Bold" pitchFamily="34" charset="0"/>
                <a:ea typeface="Inconsolata Bold" pitchFamily="34" charset="-122"/>
                <a:cs typeface="Inconsolata Bold" pitchFamily="34" charset="-120"/>
              </a:rPr>
              <a:t>Dynamo Generates</a:t>
            </a:r>
          </a:p>
          <a:p>
            <a:pPr marL="0" indent="0" algn="ctr">
              <a:lnSpc>
                <a:spcPct val="104000"/>
              </a:lnSpc>
              <a:buNone/>
            </a:pPr>
            <a:r>
              <a:rPr lang="en-US" sz="1400" b="1" dirty="0">
                <a:solidFill>
                  <a:srgbClr val="DAD1E6"/>
                </a:solidFill>
                <a:latin typeface="Inconsolata Bold" pitchFamily="34" charset="0"/>
                <a:ea typeface="Inconsolata Bold" pitchFamily="34" charset="-122"/>
              </a:rPr>
              <a:t>electricity</a:t>
            </a:r>
            <a:endParaRPr lang="en-US" sz="1400" dirty="0"/>
          </a:p>
        </p:txBody>
      </p:sp>
      <p:sp>
        <p:nvSpPr>
          <p:cNvPr id="6" name="Text 3"/>
          <p:cNvSpPr/>
          <p:nvPr/>
        </p:nvSpPr>
        <p:spPr>
          <a:xfrm>
            <a:off x="3264702" y="3390124"/>
            <a:ext cx="1190142" cy="229265"/>
          </a:xfrm>
          <a:prstGeom prst="rect">
            <a:avLst/>
          </a:prstGeom>
          <a:noFill/>
          <a:ln/>
        </p:spPr>
        <p:txBody>
          <a:bodyPr wrap="none" lIns="0" tIns="0" rIns="0" bIns="0" rtlCol="0" anchor="t"/>
          <a:lstStyle/>
          <a:p>
            <a:pPr marL="0" indent="0" algn="ctr">
              <a:lnSpc>
                <a:spcPct val="104000"/>
              </a:lnSpc>
              <a:buNone/>
            </a:pPr>
            <a:r>
              <a:rPr lang="en-US" sz="1400" b="1" dirty="0">
                <a:solidFill>
                  <a:srgbClr val="DAD1E6"/>
                </a:solidFill>
                <a:latin typeface="Inconsolata Bold" pitchFamily="34" charset="0"/>
                <a:ea typeface="Inconsolata Bold" pitchFamily="34" charset="-122"/>
                <a:cs typeface="Inconsolata Bold" pitchFamily="34" charset="-120"/>
              </a:rPr>
              <a:t>Rotor Spins</a:t>
            </a:r>
            <a:endParaRPr lang="en-US" sz="1400" dirty="0"/>
          </a:p>
        </p:txBody>
      </p:sp>
      <p:sp>
        <p:nvSpPr>
          <p:cNvPr id="7" name="Text 4"/>
          <p:cNvSpPr/>
          <p:nvPr/>
        </p:nvSpPr>
        <p:spPr>
          <a:xfrm>
            <a:off x="1740341" y="3390124"/>
            <a:ext cx="1190142" cy="229265"/>
          </a:xfrm>
          <a:prstGeom prst="rect">
            <a:avLst/>
          </a:prstGeom>
          <a:noFill/>
          <a:ln/>
        </p:spPr>
        <p:txBody>
          <a:bodyPr wrap="none" lIns="0" tIns="0" rIns="0" bIns="0" rtlCol="0" anchor="t"/>
          <a:lstStyle/>
          <a:p>
            <a:pPr marL="0" indent="0" algn="ctr">
              <a:lnSpc>
                <a:spcPct val="104000"/>
              </a:lnSpc>
              <a:buNone/>
            </a:pPr>
            <a:r>
              <a:rPr lang="en-US" sz="1400" b="1" dirty="0">
                <a:solidFill>
                  <a:srgbClr val="DAD1E6"/>
                </a:solidFill>
                <a:latin typeface="Inconsolata Bold" pitchFamily="34" charset="0"/>
                <a:ea typeface="Inconsolata Bold" pitchFamily="34" charset="-122"/>
                <a:cs typeface="Inconsolata Bold" pitchFamily="34" charset="-120"/>
              </a:rPr>
              <a:t>Wind Catches</a:t>
            </a:r>
            <a:endParaRPr lang="en-US" sz="1400" dirty="0"/>
          </a:p>
        </p:txBody>
      </p:sp>
      <p:sp>
        <p:nvSpPr>
          <p:cNvPr id="8" name="Text 5"/>
          <p:cNvSpPr/>
          <p:nvPr/>
        </p:nvSpPr>
        <p:spPr>
          <a:xfrm>
            <a:off x="496119" y="4238551"/>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 Airflow produces torque on the blades; the rotor spins the dynamo producing alternating current. Power is rectified and conditioned; Arduino reads voltage, current and RPM and logs data for management or storage.</a:t>
            </a:r>
            <a:endParaRPr lang="en-US" sz="1100" dirty="0"/>
          </a:p>
        </p:txBody>
      </p:sp>
      <p:sp>
        <p:nvSpPr>
          <p:cNvPr id="10" name="Rectangle 9">
            <a:extLst>
              <a:ext uri="{FF2B5EF4-FFF2-40B4-BE49-F238E27FC236}">
                <a16:creationId xmlns:a16="http://schemas.microsoft.com/office/drawing/2014/main" id="{8EFA0680-C2E4-F695-369D-254CA56AA610}"/>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ppt_x"/>
                                          </p:val>
                                        </p:tav>
                                        <p:tav tm="100000">
                                          <p:val>
                                            <p:strVal val="#ppt_x"/>
                                          </p:val>
                                        </p:tav>
                                      </p:tavLst>
                                    </p:anim>
                                    <p:anim calcmode="lin" valueType="num">
                                      <p:cBhvr additive="base">
                                        <p:cTn id="3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ppt_x"/>
                                          </p:val>
                                        </p:tav>
                                        <p:tav tm="100000">
                                          <p:val>
                                            <p:strVal val="#ppt_x"/>
                                          </p:val>
                                        </p:tav>
                                      </p:tavLst>
                                    </p:anim>
                                    <p:anim calcmode="lin" valueType="num">
                                      <p:cBhvr additive="base">
                                        <p:cTn id="3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050578"/>
            <a:ext cx="8151763" cy="442987"/>
          </a:xfrm>
          <a:prstGeom prst="rect">
            <a:avLst/>
          </a:prstGeom>
          <a:noFill/>
          <a:ln/>
        </p:spPr>
        <p:txBody>
          <a:bodyPr wrap="none" lIns="0" tIns="0" rIns="0" bIns="0" rtlCol="0" anchor="t"/>
          <a:lstStyle/>
          <a:p>
            <a:pPr marL="0" indent="0" algn="l">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Results: Powering Small‑Scale Needs</a:t>
            </a:r>
            <a:endParaRPr lang="en-US" sz="2750" dirty="0"/>
          </a:p>
        </p:txBody>
      </p:sp>
      <p:sp>
        <p:nvSpPr>
          <p:cNvPr id="3" name="Text 1"/>
          <p:cNvSpPr/>
          <p:nvPr/>
        </p:nvSpPr>
        <p:spPr>
          <a:xfrm>
            <a:off x="496119" y="1777082"/>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     Prototype testing converted wind into measurable electrical output, demonstrating stable operation across variable wind speeds. Readings showed dependable voltage and current traceable to RPM and environmental conditions — validating the monitoring architecture.   </a:t>
            </a:r>
            <a:endParaRPr lang="en-US" sz="1100" dirty="0"/>
          </a:p>
        </p:txBody>
      </p:sp>
      <p:sp>
        <p:nvSpPr>
          <p:cNvPr id="4" name="Text 2"/>
          <p:cNvSpPr/>
          <p:nvPr/>
        </p:nvSpPr>
        <p:spPr>
          <a:xfrm>
            <a:off x="496119" y="2687836"/>
            <a:ext cx="3987254" cy="467841"/>
          </a:xfrm>
          <a:prstGeom prst="rect">
            <a:avLst/>
          </a:prstGeom>
          <a:noFill/>
          <a:ln/>
        </p:spPr>
        <p:txBody>
          <a:bodyPr wrap="none" lIns="0" tIns="0" rIns="0" bIns="0" rtlCol="0" anchor="t"/>
          <a:lstStyle/>
          <a:p>
            <a:pPr marL="0" indent="0" algn="ctr">
              <a:lnSpc>
                <a:spcPct val="83000"/>
              </a:lnSpc>
              <a:buNone/>
            </a:pPr>
            <a:r>
              <a:rPr lang="en-US" sz="3650" b="1" dirty="0">
                <a:solidFill>
                  <a:srgbClr val="DAD1E6"/>
                </a:solidFill>
                <a:latin typeface="Inconsolata Bold" pitchFamily="34" charset="0"/>
                <a:ea typeface="Inconsolata Bold" pitchFamily="34" charset="-122"/>
                <a:cs typeface="Inconsolata Bold" pitchFamily="34" charset="-120"/>
              </a:rPr>
              <a:t>Proof</a:t>
            </a:r>
            <a:endParaRPr lang="en-US" sz="3650" dirty="0"/>
          </a:p>
        </p:txBody>
      </p:sp>
      <p:sp>
        <p:nvSpPr>
          <p:cNvPr id="5" name="Text 3"/>
          <p:cNvSpPr/>
          <p:nvPr/>
        </p:nvSpPr>
        <p:spPr>
          <a:xfrm>
            <a:off x="496119" y="3332783"/>
            <a:ext cx="3987254" cy="221456"/>
          </a:xfrm>
          <a:prstGeom prst="rect">
            <a:avLst/>
          </a:prstGeom>
          <a:noFill/>
          <a:ln/>
        </p:spPr>
        <p:txBody>
          <a:bodyPr wrap="none" lIns="0" tIns="0" rIns="0" bIns="0" rtlCol="0" anchor="t"/>
          <a:lstStyle/>
          <a:p>
            <a:pPr marL="0" indent="0" algn="ctr">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Proof of Concept</a:t>
            </a:r>
            <a:endParaRPr lang="en-US" sz="1350" dirty="0"/>
          </a:p>
        </p:txBody>
      </p:sp>
      <p:sp>
        <p:nvSpPr>
          <p:cNvPr id="6" name="Text 4"/>
          <p:cNvSpPr/>
          <p:nvPr/>
        </p:nvSpPr>
        <p:spPr>
          <a:xfrm>
            <a:off x="496119" y="3639294"/>
            <a:ext cx="3987254" cy="226814"/>
          </a:xfrm>
          <a:prstGeom prst="rect">
            <a:avLst/>
          </a:prstGeom>
          <a:noFill/>
          <a:ln/>
        </p:spPr>
        <p:txBody>
          <a:bodyPr wrap="none" lIns="0" tIns="0" rIns="0" bIns="0" rtlCol="0" anchor="t"/>
          <a:lstStyle/>
          <a:p>
            <a:pPr marL="0" indent="0" algn="ctr">
              <a:lnSpc>
                <a:spcPct val="133000"/>
              </a:lnSpc>
              <a:buNone/>
            </a:pPr>
            <a:r>
              <a:rPr lang="en-US" sz="1100" dirty="0">
                <a:solidFill>
                  <a:srgbClr val="DAD1E6"/>
                </a:solidFill>
                <a:latin typeface="Fira Sans" pitchFamily="34" charset="0"/>
                <a:ea typeface="Fira Sans" pitchFamily="34" charset="-122"/>
                <a:cs typeface="Fira Sans" pitchFamily="34" charset="-120"/>
              </a:rPr>
              <a:t>Operational prototype </a:t>
            </a:r>
            <a:endParaRPr lang="en-US" sz="1100" dirty="0"/>
          </a:p>
        </p:txBody>
      </p:sp>
      <p:sp>
        <p:nvSpPr>
          <p:cNvPr id="7" name="Text 5"/>
          <p:cNvSpPr/>
          <p:nvPr/>
        </p:nvSpPr>
        <p:spPr>
          <a:xfrm>
            <a:off x="4660553" y="2687836"/>
            <a:ext cx="3987329" cy="467841"/>
          </a:xfrm>
          <a:prstGeom prst="rect">
            <a:avLst/>
          </a:prstGeom>
          <a:noFill/>
          <a:ln/>
        </p:spPr>
        <p:txBody>
          <a:bodyPr wrap="none" lIns="0" tIns="0" rIns="0" bIns="0" rtlCol="0" anchor="t"/>
          <a:lstStyle/>
          <a:p>
            <a:pPr marL="0" indent="0" algn="ctr">
              <a:lnSpc>
                <a:spcPct val="83000"/>
              </a:lnSpc>
              <a:buNone/>
            </a:pPr>
            <a:r>
              <a:rPr lang="en-US" sz="3650" b="1" dirty="0">
                <a:solidFill>
                  <a:srgbClr val="DAD1E6"/>
                </a:solidFill>
                <a:latin typeface="Inconsolata Bold" pitchFamily="34" charset="0"/>
                <a:ea typeface="Inconsolata Bold" pitchFamily="34" charset="-122"/>
                <a:cs typeface="Inconsolata Bold" pitchFamily="34" charset="-120"/>
              </a:rPr>
              <a:t>Scalable</a:t>
            </a:r>
            <a:endParaRPr lang="en-US" sz="3650" dirty="0"/>
          </a:p>
        </p:txBody>
      </p:sp>
      <p:sp>
        <p:nvSpPr>
          <p:cNvPr id="8" name="Text 6"/>
          <p:cNvSpPr/>
          <p:nvPr/>
        </p:nvSpPr>
        <p:spPr>
          <a:xfrm>
            <a:off x="4660553" y="3332783"/>
            <a:ext cx="3987329" cy="221456"/>
          </a:xfrm>
          <a:prstGeom prst="rect">
            <a:avLst/>
          </a:prstGeom>
          <a:noFill/>
          <a:ln/>
        </p:spPr>
        <p:txBody>
          <a:bodyPr wrap="none" lIns="0" tIns="0" rIns="0" bIns="0" rtlCol="0" anchor="t"/>
          <a:lstStyle/>
          <a:p>
            <a:pPr marL="0" indent="0" algn="ctr">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Scalable</a:t>
            </a:r>
            <a:endParaRPr lang="en-US" sz="1350" dirty="0"/>
          </a:p>
        </p:txBody>
      </p:sp>
      <p:sp>
        <p:nvSpPr>
          <p:cNvPr id="9" name="Text 7"/>
          <p:cNvSpPr/>
          <p:nvPr/>
        </p:nvSpPr>
        <p:spPr>
          <a:xfrm>
            <a:off x="4660553" y="3639294"/>
            <a:ext cx="3987329"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DAD1E6"/>
                </a:solidFill>
                <a:latin typeface="Fira Sans" pitchFamily="34" charset="0"/>
                <a:ea typeface="Fira Sans" pitchFamily="34" charset="-122"/>
                <a:cs typeface="Fira Sans" pitchFamily="34" charset="-120"/>
              </a:rPr>
              <a:t>Modular design suitable for small arrays or rooftop deployments.</a:t>
            </a:r>
            <a:endParaRPr lang="en-US" sz="1100" dirty="0"/>
          </a:p>
        </p:txBody>
      </p:sp>
      <p:sp>
        <p:nvSpPr>
          <p:cNvPr id="11" name="Rectangle 10">
            <a:extLst>
              <a:ext uri="{FF2B5EF4-FFF2-40B4-BE49-F238E27FC236}">
                <a16:creationId xmlns:a16="http://schemas.microsoft.com/office/drawing/2014/main" id="{F809F26A-F8A0-6E94-4E93-922F6EF3176D}"/>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randombar(horizontal)">
                                      <p:cBhvr>
                                        <p:cTn id="25" dur="500"/>
                                        <p:tgtEl>
                                          <p:spTgt spid="8"/>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randombar(horizontal)">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715021"/>
            <a:ext cx="8151763" cy="442987"/>
          </a:xfrm>
          <a:prstGeom prst="rect">
            <a:avLst/>
          </a:prstGeom>
          <a:noFill/>
          <a:ln/>
        </p:spPr>
        <p:txBody>
          <a:bodyPr wrap="none" lIns="0" tIns="0" rIns="0" bIns="0" rtlCol="0" anchor="t"/>
          <a:lstStyle/>
          <a:p>
            <a:pPr marL="0" indent="0" algn="l">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Advantages for a Greener Future</a:t>
            </a:r>
            <a:endParaRPr lang="en-US" sz="27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441525"/>
            <a:ext cx="354360" cy="354360"/>
          </a:xfrm>
          <a:prstGeom prst="rect">
            <a:avLst/>
          </a:prstGeom>
        </p:spPr>
      </p:pic>
      <p:sp>
        <p:nvSpPr>
          <p:cNvPr id="4" name="Text 1"/>
          <p:cNvSpPr/>
          <p:nvPr/>
        </p:nvSpPr>
        <p:spPr>
          <a:xfrm>
            <a:off x="1027658" y="2441525"/>
            <a:ext cx="2067595"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Decentralised Power</a:t>
            </a:r>
            <a:endParaRPr lang="en-US" sz="1350" dirty="0"/>
          </a:p>
        </p:txBody>
      </p:sp>
      <p:sp>
        <p:nvSpPr>
          <p:cNvPr id="5" name="Text 2"/>
          <p:cNvSpPr/>
          <p:nvPr/>
        </p:nvSpPr>
        <p:spPr>
          <a:xfrm>
            <a:off x="1027658" y="2748037"/>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Reduces dependence on distant generation; lowers transmission losses.</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2433" y="2441525"/>
            <a:ext cx="354360" cy="354360"/>
          </a:xfrm>
          <a:prstGeom prst="rect">
            <a:avLst/>
          </a:prstGeom>
        </p:spPr>
      </p:pic>
      <p:sp>
        <p:nvSpPr>
          <p:cNvPr id="7" name="Text 3"/>
          <p:cNvSpPr/>
          <p:nvPr/>
        </p:nvSpPr>
        <p:spPr>
          <a:xfrm>
            <a:off x="3803972" y="2441525"/>
            <a:ext cx="2067595"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Lower Emissions</a:t>
            </a:r>
            <a:endParaRPr lang="en-US" sz="1350" dirty="0"/>
          </a:p>
        </p:txBody>
      </p:sp>
      <p:sp>
        <p:nvSpPr>
          <p:cNvPr id="8" name="Text 4"/>
          <p:cNvSpPr/>
          <p:nvPr/>
        </p:nvSpPr>
        <p:spPr>
          <a:xfrm>
            <a:off x="3803972" y="2748037"/>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Clean electricity locally reduces carbon footprint for homes and communities.</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48747" y="2441525"/>
            <a:ext cx="354360" cy="354360"/>
          </a:xfrm>
          <a:prstGeom prst="rect">
            <a:avLst/>
          </a:prstGeom>
        </p:spPr>
      </p:pic>
      <p:sp>
        <p:nvSpPr>
          <p:cNvPr id="10" name="Text 5"/>
          <p:cNvSpPr/>
          <p:nvPr/>
        </p:nvSpPr>
        <p:spPr>
          <a:xfrm>
            <a:off x="6580287" y="2441525"/>
            <a:ext cx="2067595" cy="221456"/>
          </a:xfrm>
          <a:prstGeom prst="rect">
            <a:avLst/>
          </a:prstGeom>
          <a:noFill/>
          <a:ln/>
        </p:spPr>
        <p:txBody>
          <a:bodyPr wrap="none" lIns="0" tIns="0" rIns="0" bIns="0" rtlCol="0" anchor="t"/>
          <a:lstStyle/>
          <a:p>
            <a:pPr marL="0" indent="0" algn="l">
              <a:lnSpc>
                <a:spcPct val="104000"/>
              </a:lnSpc>
              <a:buNone/>
            </a:pPr>
            <a:r>
              <a:rPr lang="en-US" sz="1350" b="1" dirty="0">
                <a:solidFill>
                  <a:srgbClr val="DAD1E6"/>
                </a:solidFill>
                <a:latin typeface="Inconsolata Bold" pitchFamily="34" charset="0"/>
                <a:ea typeface="Inconsolata Bold" pitchFamily="34" charset="-122"/>
                <a:cs typeface="Inconsolata Bold" pitchFamily="34" charset="-120"/>
              </a:rPr>
              <a:t>Quiet &amp; Safe</a:t>
            </a:r>
            <a:endParaRPr lang="en-US" sz="1350" dirty="0"/>
          </a:p>
        </p:txBody>
      </p:sp>
      <p:sp>
        <p:nvSpPr>
          <p:cNvPr id="11" name="Text 6"/>
          <p:cNvSpPr/>
          <p:nvPr/>
        </p:nvSpPr>
        <p:spPr>
          <a:xfrm>
            <a:off x="6580287" y="2748037"/>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Reduced noise and safer operation compared with large horizontal-axis turbines.</a:t>
            </a:r>
            <a:endParaRPr lang="en-US" sz="1100" dirty="0"/>
          </a:p>
        </p:txBody>
      </p:sp>
      <p:sp>
        <p:nvSpPr>
          <p:cNvPr id="13" name="Rectangle 12">
            <a:extLst>
              <a:ext uri="{FF2B5EF4-FFF2-40B4-BE49-F238E27FC236}">
                <a16:creationId xmlns:a16="http://schemas.microsoft.com/office/drawing/2014/main" id="{87638FBB-46E9-13FB-DD3C-1CB3E012910B}"/>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8"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96119" y="978768"/>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F94CAF"/>
                </a:solidFill>
                <a:latin typeface="Inconsolata Bold" pitchFamily="34" charset="0"/>
                <a:ea typeface="Inconsolata Bold" pitchFamily="34" charset="-122"/>
                <a:cs typeface="Inconsolata Bold" pitchFamily="34" charset="-120"/>
              </a:rPr>
              <a:t>Conclusion: The Winds of Change</a:t>
            </a:r>
            <a:endParaRPr lang="en-US" sz="2750" dirty="0"/>
          </a:p>
        </p:txBody>
      </p:sp>
      <p:sp>
        <p:nvSpPr>
          <p:cNvPr id="4" name="Text 1"/>
          <p:cNvSpPr/>
          <p:nvPr/>
        </p:nvSpPr>
        <p:spPr>
          <a:xfrm>
            <a:off x="566458" y="2004715"/>
            <a:ext cx="472276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DAD1E6"/>
                </a:solidFill>
                <a:latin typeface="Fira Sans" pitchFamily="34" charset="0"/>
                <a:ea typeface="Fira Sans" pitchFamily="34" charset="-122"/>
                <a:cs typeface="Fira Sans" pitchFamily="34" charset="-120"/>
              </a:rPr>
              <a:t>     This VAWT project illustrates a practical path to localised, sustainable electricity.  With reliable sensing and simple control, small turbines can support off‑grid power and reduce pressure on central grids.  </a:t>
            </a:r>
          </a:p>
          <a:p>
            <a:pPr marL="0" indent="0" algn="l">
              <a:lnSpc>
                <a:spcPct val="133000"/>
              </a:lnSpc>
              <a:buNone/>
            </a:pPr>
            <a:endParaRPr lang="en-US" sz="1100" dirty="0"/>
          </a:p>
        </p:txBody>
      </p:sp>
      <p:sp>
        <p:nvSpPr>
          <p:cNvPr id="7" name="Text 3"/>
          <p:cNvSpPr/>
          <p:nvPr/>
        </p:nvSpPr>
        <p:spPr>
          <a:xfrm>
            <a:off x="956816" y="3548063"/>
            <a:ext cx="4120307" cy="453628"/>
          </a:xfrm>
          <a:prstGeom prst="rect">
            <a:avLst/>
          </a:prstGeom>
          <a:noFill/>
          <a:ln/>
        </p:spPr>
        <p:txBody>
          <a:bodyPr wrap="square" lIns="0" tIns="0" rIns="0" bIns="0" rtlCol="0" anchor="t">
            <a:normAutofit/>
          </a:bodyPr>
          <a:lstStyle/>
          <a:p>
            <a:pPr marL="0" indent="0" algn="l">
              <a:lnSpc>
                <a:spcPct val="133000"/>
              </a:lnSpc>
              <a:buNone/>
            </a:pPr>
            <a:endParaRPr lang="en-US" sz="1100" dirty="0"/>
          </a:p>
        </p:txBody>
      </p:sp>
      <p:sp>
        <p:nvSpPr>
          <p:cNvPr id="6" name="Rectangle 5">
            <a:extLst>
              <a:ext uri="{FF2B5EF4-FFF2-40B4-BE49-F238E27FC236}">
                <a16:creationId xmlns:a16="http://schemas.microsoft.com/office/drawing/2014/main" id="{689086C8-61A3-FBB2-C511-02799D241FBA}"/>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D76DC9-681A-14AC-57FB-B64E9E81002C}"/>
              </a:ext>
            </a:extLst>
          </p:cNvPr>
          <p:cNvSpPr txBox="1"/>
          <p:nvPr/>
        </p:nvSpPr>
        <p:spPr>
          <a:xfrm>
            <a:off x="900331" y="1454794"/>
            <a:ext cx="8546124" cy="1323439"/>
          </a:xfrm>
          <a:prstGeom prst="rect">
            <a:avLst/>
          </a:prstGeom>
          <a:noFill/>
        </p:spPr>
        <p:txBody>
          <a:bodyPr wrap="square" rtlCol="0">
            <a:spAutoFit/>
          </a:bodyPr>
          <a:lstStyle/>
          <a:p>
            <a:r>
              <a:rPr lang="en-IN" sz="8000" dirty="0">
                <a:solidFill>
                  <a:srgbClr val="F94CAF"/>
                </a:solidFill>
                <a:latin typeface="Arial Black" panose="020B0A04020102020204" pitchFamily="34" charset="0"/>
              </a:rPr>
              <a:t>THANK YOU</a:t>
            </a:r>
          </a:p>
        </p:txBody>
      </p:sp>
      <p:sp>
        <p:nvSpPr>
          <p:cNvPr id="6" name="Rectangle 5">
            <a:extLst>
              <a:ext uri="{FF2B5EF4-FFF2-40B4-BE49-F238E27FC236}">
                <a16:creationId xmlns:a16="http://schemas.microsoft.com/office/drawing/2014/main" id="{16E8A442-2BE1-6C6B-AB50-6C095050ADD3}"/>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Tree>
    <p:extLst>
      <p:ext uri="{BB962C8B-B14F-4D97-AF65-F5344CB8AC3E}">
        <p14:creationId xmlns:p14="http://schemas.microsoft.com/office/powerpoint/2010/main" val="151184098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9E4C5E7-575A-D0E8-6875-A90AFDD3CDE7}"/>
              </a:ext>
            </a:extLst>
          </p:cNvPr>
          <p:cNvSpPr/>
          <p:nvPr/>
        </p:nvSpPr>
        <p:spPr>
          <a:xfrm>
            <a:off x="7955280" y="4867422"/>
            <a:ext cx="1188720" cy="276078"/>
          </a:xfrm>
          <a:prstGeom prst="rect">
            <a:avLst/>
          </a:prstGeom>
          <a:solidFill>
            <a:srgbClr val="2416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241631"/>
              </a:solidFill>
            </a:endParaRPr>
          </a:p>
        </p:txBody>
      </p:sp>
      <p:sp>
        <p:nvSpPr>
          <p:cNvPr id="4" name="TextBox 3">
            <a:extLst>
              <a:ext uri="{FF2B5EF4-FFF2-40B4-BE49-F238E27FC236}">
                <a16:creationId xmlns:a16="http://schemas.microsoft.com/office/drawing/2014/main" id="{B4CC137C-FE5E-0950-D8D8-A2B9147B4062}"/>
              </a:ext>
            </a:extLst>
          </p:cNvPr>
          <p:cNvSpPr txBox="1"/>
          <p:nvPr/>
        </p:nvSpPr>
        <p:spPr>
          <a:xfrm>
            <a:off x="1519312" y="961634"/>
            <a:ext cx="6766560" cy="1446550"/>
          </a:xfrm>
          <a:prstGeom prst="rect">
            <a:avLst/>
          </a:prstGeom>
          <a:noFill/>
        </p:spPr>
        <p:txBody>
          <a:bodyPr wrap="square" rtlCol="0">
            <a:spAutoFit/>
          </a:bodyPr>
          <a:lstStyle/>
          <a:p>
            <a:pPr algn="ctr"/>
            <a:r>
              <a:rPr lang="en-IN" sz="4400" dirty="0">
                <a:solidFill>
                  <a:srgbClr val="F94CAF"/>
                </a:solidFill>
                <a:latin typeface="Inconsolata Bold" pitchFamily="1" charset="0"/>
                <a:ea typeface="Inconsolata Bold" pitchFamily="1" charset="0"/>
              </a:rPr>
              <a:t> PRESENTED BY:</a:t>
            </a:r>
          </a:p>
          <a:p>
            <a:pPr algn="ctr"/>
            <a:endParaRPr lang="en-IN" sz="4400" dirty="0">
              <a:solidFill>
                <a:srgbClr val="F94CAF"/>
              </a:solidFill>
              <a:latin typeface="Inconsolata Bold" pitchFamily="1" charset="0"/>
              <a:ea typeface="Inconsolata Bold" pitchFamily="1" charset="0"/>
            </a:endParaRPr>
          </a:p>
        </p:txBody>
      </p:sp>
      <p:sp>
        <p:nvSpPr>
          <p:cNvPr id="5" name="TextBox 4">
            <a:extLst>
              <a:ext uri="{FF2B5EF4-FFF2-40B4-BE49-F238E27FC236}">
                <a16:creationId xmlns:a16="http://schemas.microsoft.com/office/drawing/2014/main" id="{604CB80D-FC45-6E13-0ADA-A96BC49A0450}"/>
              </a:ext>
            </a:extLst>
          </p:cNvPr>
          <p:cNvSpPr txBox="1"/>
          <p:nvPr/>
        </p:nvSpPr>
        <p:spPr>
          <a:xfrm>
            <a:off x="3130061" y="2035392"/>
            <a:ext cx="3953022" cy="1200329"/>
          </a:xfrm>
          <a:prstGeom prst="rect">
            <a:avLst/>
          </a:prstGeom>
          <a:noFill/>
        </p:spPr>
        <p:txBody>
          <a:bodyPr wrap="square" rtlCol="0">
            <a:spAutoFit/>
          </a:bodyPr>
          <a:lstStyle/>
          <a:p>
            <a:r>
              <a:rPr lang="en-IN" sz="3600" dirty="0">
                <a:solidFill>
                  <a:srgbClr val="DAD1E6"/>
                </a:solidFill>
                <a:latin typeface="Fira Sans" panose="020B0503050000020004" pitchFamily="34" charset="0"/>
              </a:rPr>
              <a:t>Siddharth Yadav</a:t>
            </a:r>
          </a:p>
          <a:p>
            <a:r>
              <a:rPr lang="en-IN" sz="3600" dirty="0">
                <a:solidFill>
                  <a:srgbClr val="DAD1E6"/>
                </a:solidFill>
                <a:latin typeface="Fira Sans" panose="020B0503050000020004" pitchFamily="34" charset="0"/>
              </a:rPr>
              <a:t>Yash </a:t>
            </a:r>
            <a:r>
              <a:rPr lang="en-IN" sz="3600" dirty="0" err="1">
                <a:solidFill>
                  <a:srgbClr val="DAD1E6"/>
                </a:solidFill>
                <a:latin typeface="Fira Sans" panose="020B0503050000020004" pitchFamily="34" charset="0"/>
              </a:rPr>
              <a:t>sawardekar</a:t>
            </a:r>
            <a:endParaRPr lang="en-IN" sz="3600" dirty="0">
              <a:solidFill>
                <a:srgbClr val="DAD1E6"/>
              </a:solidFill>
              <a:latin typeface="Fira Sans" panose="020B0503050000020004" pitchFamily="34" charset="0"/>
            </a:endParaRPr>
          </a:p>
        </p:txBody>
      </p:sp>
    </p:spTree>
    <p:extLst>
      <p:ext uri="{BB962C8B-B14F-4D97-AF65-F5344CB8AC3E}">
        <p14:creationId xmlns:p14="http://schemas.microsoft.com/office/powerpoint/2010/main" val="2755860422"/>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5">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5">
                                            <p:txEl>
                                              <p:pRg st="0" end="0"/>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1000"/>
                                        <p:tgtEl>
                                          <p:spTgt spid="5">
                                            <p:txEl>
                                              <p:pRg st="1" end="1"/>
                                            </p:txEl>
                                          </p:spTgt>
                                        </p:tgtEl>
                                      </p:cBhvr>
                                    </p:animEffect>
                                    <p:anim calcmode="lin" valueType="num">
                                      <p:cBhvr>
                                        <p:cTn id="14"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5">
                                            <p:txEl>
                                              <p:pRg st="1" end="1"/>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5">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0" presetClass="exit" presetSubtype="0" accel="100000" fill="hold" grpId="0" nodeType="clickEffect">
                                  <p:stCondLst>
                                    <p:cond delay="0"/>
                                  </p:stCondLst>
                                  <p:childTnLst>
                                    <p:anim calcmode="lin" valueType="num">
                                      <p:cBhvr>
                                        <p:cTn id="20" dur="1000"/>
                                        <p:tgtEl>
                                          <p:spTgt spid="4"/>
                                        </p:tgtEl>
                                        <p:attrNameLst>
                                          <p:attrName>ppt_w</p:attrName>
                                        </p:attrNameLst>
                                      </p:cBhvr>
                                      <p:tavLst>
                                        <p:tav tm="0">
                                          <p:val>
                                            <p:strVal val="ppt_w"/>
                                          </p:val>
                                        </p:tav>
                                        <p:tav tm="100000">
                                          <p:val>
                                            <p:strVal val="ppt_w+.3"/>
                                          </p:val>
                                        </p:tav>
                                      </p:tavLst>
                                    </p:anim>
                                    <p:anim calcmode="lin" valueType="num">
                                      <p:cBhvr>
                                        <p:cTn id="21" dur="1000"/>
                                        <p:tgtEl>
                                          <p:spTgt spid="4"/>
                                        </p:tgtEl>
                                        <p:attrNameLst>
                                          <p:attrName>ppt_h</p:attrName>
                                        </p:attrNameLst>
                                      </p:cBhvr>
                                      <p:tavLst>
                                        <p:tav tm="0">
                                          <p:val>
                                            <p:strVal val="ppt_h"/>
                                          </p:val>
                                        </p:tav>
                                        <p:tav tm="100000">
                                          <p:val>
                                            <p:strVal val="ppt_h"/>
                                          </p:val>
                                        </p:tav>
                                      </p:tavLst>
                                    </p:anim>
                                    <p:animEffect transition="out" filter="fade">
                                      <p:cBhvr>
                                        <p:cTn id="22" dur="1000"/>
                                        <p:tgtEl>
                                          <p:spTgt spid="4"/>
                                        </p:tgtEl>
                                      </p:cBhvr>
                                    </p:animEffect>
                                    <p:set>
                                      <p:cBhvr>
                                        <p:cTn id="23" dur="1" fill="hold">
                                          <p:stCondLst>
                                            <p:cond delay="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TotalTime>
  <Words>659</Words>
  <Application>Microsoft Office PowerPoint</Application>
  <PresentationFormat>On-screen Show (16:9)</PresentationFormat>
  <Paragraphs>80</Paragraphs>
  <Slides>13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Incoslota</vt:lpstr>
      <vt:lpstr>Arial</vt:lpstr>
      <vt:lpstr>Fira Sans</vt:lpstr>
      <vt:lpstr>Arial Black</vt:lpstr>
      <vt:lpstr>Inconsolata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Udaan India Foundation</cp:lastModifiedBy>
  <cp:revision>8</cp:revision>
  <dcterms:created xsi:type="dcterms:W3CDTF">2026-07-27T13:16:08Z</dcterms:created>
  <dcterms:modified xsi:type="dcterms:W3CDTF">2026-08-14T06:16:45Z</dcterms:modified>
</cp:coreProperties>
</file>