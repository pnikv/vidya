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IOT DATASHEET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987552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2.0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K10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IOT DEVELOPMENT 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pocket-sized, touchscreen coding board that brings computer vision, voice AI, TinyML and IoT together in one classroom-ready device.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03920" y="123444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23272F"/>
          </a:solidFill>
          <a:ln w="19050">
            <a:solidFill>
              <a:srgbClr val="2A2F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69096" y="1516075"/>
            <a:ext cx="148499" cy="148499"/>
          </a:xfrm>
          <a:prstGeom prst="ellipse">
            <a:avLst/>
          </a:prstGeom>
          <a:solidFill>
            <a:srgbClr val="0D0F1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97147" y="1516075"/>
            <a:ext cx="148499" cy="148499"/>
          </a:xfrm>
          <a:prstGeom prst="ellipse">
            <a:avLst/>
          </a:prstGeom>
          <a:solidFill>
            <a:srgbClr val="0D0F1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75166" y="1868119"/>
            <a:ext cx="1909267" cy="1936242"/>
          </a:xfrm>
          <a:prstGeom prst="roundRect">
            <a:avLst>
              <a:gd name="adj" fmla="val 2395"/>
            </a:avLst>
          </a:prstGeom>
          <a:solidFill>
            <a:srgbClr val="10151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27908" y="2158556"/>
            <a:ext cx="954634" cy="232349"/>
          </a:xfrm>
          <a:prstGeom prst="roundRect">
            <a:avLst>
              <a:gd name="adj" fmla="val 7871"/>
            </a:avLst>
          </a:prstGeom>
          <a:solidFill>
            <a:srgbClr val="2DD4BF"/>
          </a:solidFill>
          <a:ln/>
        </p:spPr>
      </p:sp>
      <p:sp>
        <p:nvSpPr>
          <p:cNvPr id="14" name="Shape 11"/>
          <p:cNvSpPr/>
          <p:nvPr/>
        </p:nvSpPr>
        <p:spPr>
          <a:xfrm>
            <a:off x="9027908" y="2603891"/>
            <a:ext cx="572780" cy="193624"/>
          </a:xfrm>
          <a:prstGeom prst="roundRect">
            <a:avLst>
              <a:gd name="adj" fmla="val 9445"/>
            </a:avLst>
          </a:prstGeom>
          <a:solidFill>
            <a:srgbClr val="FF7A59"/>
          </a:solidFill>
          <a:ln/>
        </p:spPr>
      </p:sp>
      <p:sp>
        <p:nvSpPr>
          <p:cNvPr id="15" name="Shape 12"/>
          <p:cNvSpPr/>
          <p:nvPr/>
        </p:nvSpPr>
        <p:spPr>
          <a:xfrm>
            <a:off x="9027908" y="2991140"/>
            <a:ext cx="1431950" cy="154899"/>
          </a:xfrm>
          <a:prstGeom prst="roundRect">
            <a:avLst>
              <a:gd name="adj" fmla="val 11806"/>
            </a:avLst>
          </a:prstGeom>
          <a:solidFill>
            <a:srgbClr val="343B46"/>
          </a:solidFill>
          <a:ln/>
        </p:spPr>
      </p:sp>
      <p:sp>
        <p:nvSpPr>
          <p:cNvPr id="16" name="Shape 13"/>
          <p:cNvSpPr/>
          <p:nvPr/>
        </p:nvSpPr>
        <p:spPr>
          <a:xfrm>
            <a:off x="9027908" y="3300938"/>
            <a:ext cx="1050097" cy="154899"/>
          </a:xfrm>
          <a:prstGeom prst="roundRect">
            <a:avLst>
              <a:gd name="adj" fmla="val 11806"/>
            </a:avLst>
          </a:prstGeom>
          <a:solidFill>
            <a:srgbClr val="343B46"/>
          </a:solidFill>
          <a:ln/>
        </p:spPr>
      </p:sp>
      <p:sp>
        <p:nvSpPr>
          <p:cNvPr id="17" name="Shape 14"/>
          <p:cNvSpPr/>
          <p:nvPr/>
        </p:nvSpPr>
        <p:spPr>
          <a:xfrm>
            <a:off x="8411108" y="1727302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5"/>
          <p:cNvSpPr/>
          <p:nvPr/>
        </p:nvSpPr>
        <p:spPr>
          <a:xfrm>
            <a:off x="11155680" y="1727302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1108" y="1938528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7"/>
          <p:cNvSpPr/>
          <p:nvPr/>
        </p:nvSpPr>
        <p:spPr>
          <a:xfrm>
            <a:off x="11155680" y="1938528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8"/>
          <p:cNvSpPr/>
          <p:nvPr/>
        </p:nvSpPr>
        <p:spPr>
          <a:xfrm>
            <a:off x="8411108" y="2149754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Shape 19"/>
          <p:cNvSpPr/>
          <p:nvPr/>
        </p:nvSpPr>
        <p:spPr>
          <a:xfrm>
            <a:off x="11155680" y="2149754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0"/>
          <p:cNvSpPr/>
          <p:nvPr/>
        </p:nvSpPr>
        <p:spPr>
          <a:xfrm>
            <a:off x="8411108" y="2360981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Shape 21"/>
          <p:cNvSpPr/>
          <p:nvPr/>
        </p:nvSpPr>
        <p:spPr>
          <a:xfrm>
            <a:off x="11155680" y="2360981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Shape 22"/>
          <p:cNvSpPr/>
          <p:nvPr/>
        </p:nvSpPr>
        <p:spPr>
          <a:xfrm>
            <a:off x="8411108" y="2572207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Shape 23"/>
          <p:cNvSpPr/>
          <p:nvPr/>
        </p:nvSpPr>
        <p:spPr>
          <a:xfrm>
            <a:off x="11155680" y="2572207"/>
            <a:ext cx="92812" cy="1584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4"/>
          <p:cNvSpPr/>
          <p:nvPr/>
        </p:nvSpPr>
        <p:spPr>
          <a:xfrm>
            <a:off x="8875166" y="4191610"/>
            <a:ext cx="477317" cy="246431"/>
          </a:xfrm>
          <a:prstGeom prst="roundRect">
            <a:avLst>
              <a:gd name="adj" fmla="val 111317"/>
            </a:avLst>
          </a:prstGeom>
          <a:solidFill>
            <a:srgbClr val="0D0F12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307117" y="4191610"/>
            <a:ext cx="477317" cy="246431"/>
          </a:xfrm>
          <a:prstGeom prst="roundRect">
            <a:avLst>
              <a:gd name="adj" fmla="val 111317"/>
            </a:avLst>
          </a:prstGeom>
          <a:solidFill>
            <a:srgbClr val="0D0F12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50749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0" name="Image 1" descr="/home/claude/assets2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285232"/>
            <a:ext cx="548640" cy="5486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417320" y="5285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3246120" y="50749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3" name="Image 2" descr="/home/claude/assets2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5285232"/>
            <a:ext cx="548640" cy="5486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114800" y="5285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943600" y="50749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6" name="Image 3" descr="/home/claude/assets2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285232"/>
            <a:ext cx="548640" cy="5486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812280" y="5285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WIFI/BT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8641080" y="50749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9" name="Image 4" descr="/home/claude/assets2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5285232"/>
            <a:ext cx="548640" cy="54864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509760" y="52852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TINYML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UNIHIKER K10?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UNIHIKER K10 is an all-in-one educational development board that lets students learn AI, IoT, and coding using a single device — no breadboards, no extra wiring, no extra parts. A 2MP camera, dual microphones, a speaker, a 2.8" color touchscreen, and a full environmental sensor suite are built straight onto the board, so learners go from unboxing to their first AI project in minutes.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904488"/>
            <a:ext cx="91440" cy="91440"/>
          </a:xfrm>
          <a:prstGeom prst="roundRect">
            <a:avLst/>
          </a:prstGeom>
          <a:solidFill>
            <a:srgbClr val="FF7A5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All-in-one educational AI + IoT board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361688"/>
            <a:ext cx="91440" cy="91440"/>
          </a:xfrm>
          <a:prstGeom prst="roundRect">
            <a:avLst/>
          </a:prstGeom>
          <a:solidFill>
            <a:srgbClr val="FF7A5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6888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IoT · Python · Block Coding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818888"/>
            <a:ext cx="91440" cy="91440"/>
          </a:xfrm>
          <a:prstGeom prst="roundRect">
            <a:avLst/>
          </a:prstGeom>
          <a:solidFill>
            <a:srgbClr val="FF7A59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4773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Students, teachers, and STEM makers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276088"/>
            <a:ext cx="91440" cy="91440"/>
          </a:xfrm>
          <a:prstGeom prst="roundRect">
            <a:avLst/>
          </a:prstGeom>
          <a:solidFill>
            <a:srgbClr val="FF7A59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257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I/O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468880" y="5230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Touchscreen · Camera + Mic · Sensors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040880" y="1417320"/>
            <a:ext cx="4617720" cy="4617720"/>
          </a:xfrm>
          <a:prstGeom prst="roundRect">
            <a:avLst>
              <a:gd name="adj" fmla="val 237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49640" y="1691640"/>
            <a:ext cx="1600200" cy="2103120"/>
          </a:xfrm>
          <a:prstGeom prst="roundRect">
            <a:avLst>
              <a:gd name="adj" fmla="val 6857"/>
            </a:avLst>
          </a:prstGeom>
          <a:solidFill>
            <a:srgbClr val="23272F"/>
          </a:solidFill>
          <a:ln w="19050">
            <a:solidFill>
              <a:srgbClr val="2A2F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709660" y="1859890"/>
            <a:ext cx="89611" cy="89611"/>
          </a:xfrm>
          <a:prstGeom prst="ellipse">
            <a:avLst/>
          </a:prstGeom>
          <a:solidFill>
            <a:srgbClr val="0D0F1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47277" y="1859890"/>
            <a:ext cx="89611" cy="89611"/>
          </a:xfrm>
          <a:prstGeom prst="ellipse">
            <a:avLst/>
          </a:prstGeom>
          <a:solidFill>
            <a:srgbClr val="0D0F1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73668" y="2070202"/>
            <a:ext cx="1152144" cy="1156716"/>
          </a:xfrm>
          <a:prstGeom prst="roundRect">
            <a:avLst>
              <a:gd name="adj" fmla="val 3968"/>
            </a:avLst>
          </a:prstGeom>
          <a:solidFill>
            <a:srgbClr val="10151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65840" y="2243709"/>
            <a:ext cx="576072" cy="138806"/>
          </a:xfrm>
          <a:prstGeom prst="roundRect">
            <a:avLst>
              <a:gd name="adj" fmla="val 13175"/>
            </a:avLst>
          </a:prstGeom>
          <a:solidFill>
            <a:srgbClr val="2DD4BF"/>
          </a:solidFill>
          <a:ln/>
        </p:spPr>
      </p:sp>
      <p:sp>
        <p:nvSpPr>
          <p:cNvPr id="25" name="Shape 22"/>
          <p:cNvSpPr/>
          <p:nvPr/>
        </p:nvSpPr>
        <p:spPr>
          <a:xfrm>
            <a:off x="8865840" y="2509754"/>
            <a:ext cx="345643" cy="115672"/>
          </a:xfrm>
          <a:prstGeom prst="roundRect">
            <a:avLst>
              <a:gd name="adj" fmla="val 15810"/>
            </a:avLst>
          </a:prstGeom>
          <a:solidFill>
            <a:srgbClr val="FF7A59"/>
          </a:solidFill>
          <a:ln/>
        </p:spPr>
      </p:sp>
      <p:sp>
        <p:nvSpPr>
          <p:cNvPr id="26" name="Shape 23"/>
          <p:cNvSpPr/>
          <p:nvPr/>
        </p:nvSpPr>
        <p:spPr>
          <a:xfrm>
            <a:off x="8865840" y="2741097"/>
            <a:ext cx="864108" cy="92537"/>
          </a:xfrm>
          <a:prstGeom prst="roundRect">
            <a:avLst>
              <a:gd name="adj" fmla="val 19763"/>
            </a:avLst>
          </a:prstGeom>
          <a:solidFill>
            <a:srgbClr val="343B46"/>
          </a:solidFill>
          <a:ln/>
        </p:spPr>
      </p:sp>
      <p:sp>
        <p:nvSpPr>
          <p:cNvPr id="27" name="Shape 24"/>
          <p:cNvSpPr/>
          <p:nvPr/>
        </p:nvSpPr>
        <p:spPr>
          <a:xfrm>
            <a:off x="8865840" y="2926171"/>
            <a:ext cx="633679" cy="92537"/>
          </a:xfrm>
          <a:prstGeom prst="roundRect">
            <a:avLst>
              <a:gd name="adj" fmla="val 19763"/>
            </a:avLst>
          </a:prstGeom>
          <a:solidFill>
            <a:srgbClr val="343B46"/>
          </a:solidFill>
          <a:ln/>
        </p:spPr>
      </p:sp>
      <p:sp>
        <p:nvSpPr>
          <p:cNvPr id="28" name="Shape 25"/>
          <p:cNvSpPr/>
          <p:nvPr/>
        </p:nvSpPr>
        <p:spPr>
          <a:xfrm>
            <a:off x="8493633" y="1986077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Shape 26"/>
          <p:cNvSpPr/>
          <p:nvPr/>
        </p:nvSpPr>
        <p:spPr>
          <a:xfrm>
            <a:off x="10149840" y="1986077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Shape 27"/>
          <p:cNvSpPr/>
          <p:nvPr/>
        </p:nvSpPr>
        <p:spPr>
          <a:xfrm>
            <a:off x="8493633" y="2112264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Shape 28"/>
          <p:cNvSpPr/>
          <p:nvPr/>
        </p:nvSpPr>
        <p:spPr>
          <a:xfrm>
            <a:off x="10149840" y="2112264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2" name="Shape 29"/>
          <p:cNvSpPr/>
          <p:nvPr/>
        </p:nvSpPr>
        <p:spPr>
          <a:xfrm>
            <a:off x="8493633" y="2238451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3" name="Shape 30"/>
          <p:cNvSpPr/>
          <p:nvPr/>
        </p:nvSpPr>
        <p:spPr>
          <a:xfrm>
            <a:off x="10149840" y="2238451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4" name="Shape 31"/>
          <p:cNvSpPr/>
          <p:nvPr/>
        </p:nvSpPr>
        <p:spPr>
          <a:xfrm>
            <a:off x="8493633" y="2364638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5" name="Shape 32"/>
          <p:cNvSpPr/>
          <p:nvPr/>
        </p:nvSpPr>
        <p:spPr>
          <a:xfrm>
            <a:off x="10149840" y="2364638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6" name="Shape 33"/>
          <p:cNvSpPr/>
          <p:nvPr/>
        </p:nvSpPr>
        <p:spPr>
          <a:xfrm>
            <a:off x="8493633" y="2490826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7" name="Shape 34"/>
          <p:cNvSpPr/>
          <p:nvPr/>
        </p:nvSpPr>
        <p:spPr>
          <a:xfrm>
            <a:off x="10149840" y="2490826"/>
            <a:ext cx="56007" cy="9464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8" name="Shape 35"/>
          <p:cNvSpPr/>
          <p:nvPr/>
        </p:nvSpPr>
        <p:spPr>
          <a:xfrm>
            <a:off x="8773668" y="3458261"/>
            <a:ext cx="288036" cy="147218"/>
          </a:xfrm>
          <a:prstGeom prst="roundRect">
            <a:avLst>
              <a:gd name="adj" fmla="val 186336"/>
            </a:avLst>
          </a:prstGeom>
          <a:solidFill>
            <a:srgbClr val="0D0F12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37776" y="3458261"/>
            <a:ext cx="288036" cy="147218"/>
          </a:xfrm>
          <a:prstGeom prst="roundRect">
            <a:avLst>
              <a:gd name="adj" fmla="val 186336"/>
            </a:avLst>
          </a:prstGeom>
          <a:solidFill>
            <a:srgbClr val="0D0F12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4088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K10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7452360" y="4480560"/>
            <a:ext cx="3794760" cy="457200"/>
          </a:xfrm>
          <a:prstGeom prst="roundRect">
            <a:avLst>
              <a:gd name="adj" fmla="val 50000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52360" y="44805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TOUCHSCREEN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7452360" y="5047488"/>
            <a:ext cx="3794760" cy="457200"/>
          </a:xfrm>
          <a:prstGeom prst="roundRect">
            <a:avLst>
              <a:gd name="adj" fmla="val 50000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52360" y="50474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MIC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Technical Specifications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7" name="Image 1" descr="/home/claude/assets2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55064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5453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417320" y="18196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(Xtensa LX7), dual-core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297680" y="1417320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11" name="Image 2" descr="/home/claude/assets2/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655064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6360" y="15453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166360" y="18196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KB SRAM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46720" y="1417320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15" name="Image 3" descr="/home/claude/assets2/stor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1655064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15400" y="15453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8915400" y="181965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MB onboard flash + microSD slot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2624328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19" name="Image 4" descr="/home/claude/assets2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86207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27523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1417320" y="30266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2.8" color touchscreen, 240 × 320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297680" y="2624328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23" name="Image 5" descr="/home/claude/assets2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2862072"/>
            <a:ext cx="548640" cy="5486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66360" y="27523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166360" y="30266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MP onboard vision sensor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8046720" y="2624328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27" name="Image 6" descr="/home/claude/assets2/m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2862072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915400" y="275234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8915400" y="30266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2-mic array, onboard speaker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548640" y="3831336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1" name="Image 7" descr="/home/claude/assets2/wif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069080"/>
            <a:ext cx="548640" cy="5486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417320" y="3959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1417320" y="42336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2.4G + Bluetooth 5.0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4297680" y="3831336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5" name="Image 8" descr="/home/claude/assets2/pow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2272" y="4069080"/>
            <a:ext cx="548640" cy="54864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66360" y="3959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INPUT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5166360" y="42336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3.5–5.5V DC via USB-C or DC2.1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8046720" y="3831336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9" name="Image 9" descr="/home/claude/assets2/us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1312" y="4069080"/>
            <a:ext cx="548640" cy="54864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915400" y="3959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8915400" y="42336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USB-C, Gravity 3/4-pin, edge connector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548640" y="5038344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43" name="Image 10" descr="/home/claude/assets2/sdc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" y="5276088"/>
            <a:ext cx="548640" cy="54864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417320" y="5166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45" name="Text 32"/>
          <p:cNvSpPr/>
          <p:nvPr/>
        </p:nvSpPr>
        <p:spPr>
          <a:xfrm>
            <a:off x="1417320" y="5440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microSD + Gravity sensor/actuator I/O</a:t>
            </a:r>
            <a:endParaRPr lang="en-US" sz="1150" dirty="0"/>
          </a:p>
        </p:txBody>
      </p:sp>
      <p:sp>
        <p:nvSpPr>
          <p:cNvPr id="46" name="Shape 33"/>
          <p:cNvSpPr/>
          <p:nvPr/>
        </p:nvSpPr>
        <p:spPr>
          <a:xfrm>
            <a:off x="4297680" y="5038344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47" name="Image 11" descr="/home/claude/assets2/rul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2272" y="5276088"/>
            <a:ext cx="548640" cy="54864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166360" y="5166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49" name="Text 35"/>
          <p:cNvSpPr/>
          <p:nvPr/>
        </p:nvSpPr>
        <p:spPr>
          <a:xfrm>
            <a:off x="5166360" y="5440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× 190 × 57 mm (packaged)</a:t>
            </a:r>
            <a:endParaRPr lang="en-US" sz="1150" dirty="0"/>
          </a:p>
        </p:txBody>
      </p:sp>
      <p:sp>
        <p:nvSpPr>
          <p:cNvPr id="50" name="Shape 36"/>
          <p:cNvSpPr/>
          <p:nvPr/>
        </p:nvSpPr>
        <p:spPr>
          <a:xfrm>
            <a:off x="8046720" y="5038344"/>
            <a:ext cx="3520440" cy="1024128"/>
          </a:xfrm>
          <a:prstGeom prst="roundRect">
            <a:avLst>
              <a:gd name="adj" fmla="val 8036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51" name="Image 12" descr="/home/claude/assets2/we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1312" y="5276088"/>
            <a:ext cx="548640" cy="54864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8915400" y="51663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000" dirty="0"/>
          </a:p>
        </p:txBody>
      </p:sp>
      <p:sp>
        <p:nvSpPr>
          <p:cNvPr id="53" name="Text 38"/>
          <p:cNvSpPr/>
          <p:nvPr/>
        </p:nvSpPr>
        <p:spPr>
          <a:xfrm>
            <a:off x="8915400" y="54406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 g (packaged)</a:t>
            </a:r>
            <a:endParaRPr lang="en-US" sz="1150" dirty="0"/>
          </a:p>
        </p:txBody>
      </p:sp>
      <p:sp>
        <p:nvSpPr>
          <p:cNvPr id="54" name="Text 39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55" name="Text 40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Features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810512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pic>
        <p:nvPicPr>
          <p:cNvPr id="8" name="Image 1" descr="/home/claude/assets2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724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04672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2MP vision sensor for AI recognition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70832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26864" y="1810512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pic>
        <p:nvPicPr>
          <p:cNvPr id="13" name="Image 2" descr="/home/claude/assets2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6864" y="2724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&amp; Speaker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26864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2-mic array plus onboard audio out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93024" y="155448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449056" y="1810512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pic>
        <p:nvPicPr>
          <p:cNvPr id="18" name="Image 3" descr="/home/claude/assets2/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19659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9056" y="2724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Display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449056" y="30906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2.8" touchscreen for live feedback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959352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04672" y="4215384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pic>
        <p:nvPicPr>
          <p:cNvPr id="23" name="Image 4" descr="/home/claude/assets2/wif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7083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51297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&amp; Bluetooth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804672" y="54955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wireless for IoT &amp; remote control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370832" y="3959352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26864" y="4215384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pic>
        <p:nvPicPr>
          <p:cNvPr id="28" name="Image 5" descr="/home/claude/assets2/tem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4370832"/>
            <a:ext cx="457200" cy="4572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26864" y="51297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Sensors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626864" y="54955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Temp, humidity, light &amp; motion onboard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8193024" y="3959352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449056" y="4215384"/>
            <a:ext cx="777240" cy="777240"/>
          </a:xfrm>
          <a:prstGeom prst="roundRect">
            <a:avLst>
              <a:gd name="adj" fmla="val 58824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pic>
        <p:nvPicPr>
          <p:cNvPr id="33" name="Image 6" descr="/home/claude/assets2/plu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4" y="4370832"/>
            <a:ext cx="457200" cy="4572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49056" y="51297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Ports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449056" y="54955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+ edge connector for add-ons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&amp; I/O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Sensors &amp; Expansion Ports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SUITE</a:t>
            </a:r>
            <a:endParaRPr lang="en-US" sz="1200" dirty="0"/>
          </a:p>
        </p:txBody>
      </p:sp>
      <p:pic>
        <p:nvPicPr>
          <p:cNvPr id="7" name="Image 1" descr="/home/claude/assets2/su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856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 light sensor</a:t>
            </a:r>
            <a:endParaRPr lang="en-US" sz="1150" dirty="0"/>
          </a:p>
        </p:txBody>
      </p:sp>
      <p:pic>
        <p:nvPicPr>
          <p:cNvPr id="9" name="Image 2" descr="/home/claude/assets2/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87452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94760" y="1856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 sensor</a:t>
            </a:r>
            <a:endParaRPr lang="en-US" sz="1150" dirty="0"/>
          </a:p>
        </p:txBody>
      </p:sp>
      <p:pic>
        <p:nvPicPr>
          <p:cNvPr id="11" name="Image 3" descr="/home/claude/assets2/te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32888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sensor</a:t>
            </a:r>
            <a:endParaRPr lang="en-US" sz="1150" dirty="0"/>
          </a:p>
        </p:txBody>
      </p:sp>
      <p:pic>
        <p:nvPicPr>
          <p:cNvPr id="13" name="Image 4" descr="/home/claude/assets2/mo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532888"/>
            <a:ext cx="411480" cy="4114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7947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/ gyroscope</a:t>
            </a:r>
            <a:endParaRPr lang="en-US" sz="1150" dirty="0"/>
          </a:p>
        </p:txBody>
      </p:sp>
      <p:pic>
        <p:nvPicPr>
          <p:cNvPr id="15" name="Image 5" descr="/home/claude/assets2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91256"/>
            <a:ext cx="411480" cy="4114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51560" y="3172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2MP camera (vision AI)</a:t>
            </a:r>
            <a:endParaRPr lang="en-US" sz="1150" dirty="0"/>
          </a:p>
        </p:txBody>
      </p:sp>
      <p:pic>
        <p:nvPicPr>
          <p:cNvPr id="17" name="Image 6" descr="/home/claude/assets2/m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191256"/>
            <a:ext cx="411480" cy="4114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794760" y="3172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microphone array</a:t>
            </a:r>
            <a:endParaRPr lang="en-US" sz="1150" dirty="0"/>
          </a:p>
        </p:txBody>
      </p:sp>
      <p:sp>
        <p:nvSpPr>
          <p:cNvPr id="19" name="Shape 10"/>
          <p:cNvSpPr/>
          <p:nvPr/>
        </p:nvSpPr>
        <p:spPr>
          <a:xfrm>
            <a:off x="6281928" y="1417320"/>
            <a:ext cx="54864" cy="4572000"/>
          </a:xfrm>
          <a:prstGeom prst="roundRect">
            <a:avLst/>
          </a:prstGeom>
          <a:solidFill>
            <a:srgbClr val="2A2F38"/>
          </a:solidFill>
          <a:ln/>
        </p:spPr>
      </p:sp>
      <p:sp>
        <p:nvSpPr>
          <p:cNvPr id="20" name="Text 11"/>
          <p:cNvSpPr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&amp; EXPANSION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6675120" y="187452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22" name="Image 7" descr="/home/claude/assets2/us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9712" y="1993392"/>
            <a:ext cx="420624" cy="42062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406640" y="19293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Type-C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7406640" y="22037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+ programming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6675120" y="265176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26" name="Image 8" descr="/home/claude/assets2/plu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9712" y="2770632"/>
            <a:ext cx="420624" cy="42062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406640" y="270662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3-pin / 4-pin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7406640" y="2980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&amp; actuators (PH2.0)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6675120" y="342900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0" name="Image 9" descr="/home/claude/assets2/cpu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712" y="3547872"/>
            <a:ext cx="420624" cy="42062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7406640" y="34838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connector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7406640" y="37581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board-to-board mounting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6675120" y="420624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4" name="Image 10" descr="/home/claude/assets2/sdc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4325112"/>
            <a:ext cx="420624" cy="420624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406640" y="42611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microSD slot</a:t>
            </a:r>
            <a:endParaRPr lang="en-US" sz="1200" dirty="0"/>
          </a:p>
        </p:txBody>
      </p:sp>
      <p:sp>
        <p:nvSpPr>
          <p:cNvPr id="36" name="Text 23"/>
          <p:cNvSpPr/>
          <p:nvPr/>
        </p:nvSpPr>
        <p:spPr>
          <a:xfrm>
            <a:off x="7406640" y="4535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logging &amp; storage</a:t>
            </a:r>
            <a:endParaRPr lang="en-US" sz="1000" dirty="0"/>
          </a:p>
        </p:txBody>
      </p:sp>
      <p:sp>
        <p:nvSpPr>
          <p:cNvPr id="37" name="Shape 24"/>
          <p:cNvSpPr/>
          <p:nvPr/>
        </p:nvSpPr>
        <p:spPr>
          <a:xfrm>
            <a:off x="6675120" y="4983480"/>
            <a:ext cx="4937760" cy="658368"/>
          </a:xfrm>
          <a:prstGeom prst="roundRect">
            <a:avLst>
              <a:gd name="adj" fmla="val 1111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8" name="Image 11" descr="/home/claude/assets2/powe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9712" y="5102352"/>
            <a:ext cx="420624" cy="42062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406640" y="50383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2-pin battery port</a:t>
            </a:r>
            <a:endParaRPr lang="en-US" sz="1200" dirty="0"/>
          </a:p>
        </p:txBody>
      </p:sp>
      <p:sp>
        <p:nvSpPr>
          <p:cNvPr id="40" name="Text 26"/>
          <p:cNvSpPr/>
          <p:nvPr/>
        </p:nvSpPr>
        <p:spPr>
          <a:xfrm>
            <a:off x="7406640" y="53126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Portable, untethered projects</a:t>
            </a:r>
            <a:endParaRPr lang="en-US" sz="1000" dirty="0"/>
          </a:p>
        </p:txBody>
      </p:sp>
      <p:sp>
        <p:nvSpPr>
          <p:cNvPr id="41" name="Text 27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42" name="Text 28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 With It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pic>
        <p:nvPicPr>
          <p:cNvPr id="8" name="Image 1" descr="/home/claude/assets2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25146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42900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Coding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85800" y="39776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coding in Mind+ or MicroPython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834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9718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pic>
        <p:nvPicPr>
          <p:cNvPr id="13" name="Image 2" descr="/home/claude/assets2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251460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71800" y="342900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Projects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971800" y="39776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Face, object &amp; pet detection with TinyML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120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578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pic>
        <p:nvPicPr>
          <p:cNvPr id="18" name="Image 3" descr="/home/claude/assets2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51460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342900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Projects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257800" y="39776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sensor data over Wi-Fi/Bluetooth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406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5438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pic>
        <p:nvPicPr>
          <p:cNvPr id="23" name="Image 4" descr="/home/claude/assets2/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2514600"/>
            <a:ext cx="731520" cy="7315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342900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543800" y="39776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motors &amp; actuators via Gravity I/O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692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8298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pic>
        <p:nvPicPr>
          <p:cNvPr id="28" name="Image 5" descr="/home/claude/assets2/mob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7584" y="2514600"/>
            <a:ext cx="731520" cy="7315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29800" y="342900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Devices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829800" y="3977640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touchscreen smart-home controllers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7864" y="214884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20242C"/>
          </a:solidFill>
          <a:ln w="9525">
            <a:solidFill>
              <a:srgbClr val="4A2E22"/>
            </a:solidFill>
            <a:prstDash val="solid"/>
          </a:ln>
        </p:spPr>
      </p:sp>
      <p:pic>
        <p:nvPicPr>
          <p:cNvPr id="8" name="Image 1" descr="/home/claude/assets2/f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228600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85800" y="379476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Unlock, greet, or personalize with on-device detection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834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83864" y="214884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20242C"/>
          </a:solidFill>
          <a:ln w="9525">
            <a:solidFill>
              <a:srgbClr val="4A2E22"/>
            </a:solidFill>
            <a:prstDash val="solid"/>
          </a:ln>
        </p:spPr>
      </p:sp>
      <p:pic>
        <p:nvPicPr>
          <p:cNvPr id="13" name="Image 2" descr="/home/claude/assets2/mic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22860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71800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971800" y="379476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speech recognition &amp; custom voice commands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120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9864" y="214884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20242C"/>
          </a:solidFill>
          <a:ln w="9525">
            <a:solidFill>
              <a:srgbClr val="4A2E22"/>
            </a:solidFill>
            <a:prstDash val="solid"/>
          </a:ln>
        </p:spPr>
      </p:sp>
      <p:pic>
        <p:nvPicPr>
          <p:cNvPr id="18" name="Image 3" descr="/home/claude/assets2/temp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28600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57800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Station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257800" y="379476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temperature, humidity &amp; light over time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406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055864" y="214884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20242C"/>
          </a:solidFill>
          <a:ln w="9525">
            <a:solidFill>
              <a:srgbClr val="4A2E22"/>
            </a:solidFill>
            <a:prstDash val="solid"/>
          </a:ln>
        </p:spPr>
      </p:sp>
      <p:pic>
        <p:nvPicPr>
          <p:cNvPr id="23" name="Image 4" descr="/home/claude/assets2/box_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228600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543800" y="379476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lights, fans &amp; alerts from sensor data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692640" y="1828800"/>
            <a:ext cx="2121408" cy="3108960"/>
          </a:xfrm>
          <a:prstGeom prst="roundRect">
            <a:avLst>
              <a:gd name="adj" fmla="val 3879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0341864" y="2148840"/>
            <a:ext cx="822960" cy="822960"/>
          </a:xfrm>
          <a:prstGeom prst="roundRect">
            <a:avLst>
              <a:gd name="adj" fmla="val 55556"/>
            </a:avLst>
          </a:prstGeom>
          <a:solidFill>
            <a:srgbClr val="20242C"/>
          </a:solidFill>
          <a:ln w="9525">
            <a:solidFill>
              <a:srgbClr val="4A2E22"/>
            </a:solidFill>
            <a:prstDash val="solid"/>
          </a:ln>
        </p:spPr>
      </p:sp>
      <p:pic>
        <p:nvPicPr>
          <p:cNvPr id="28" name="Image 5" descr="/home/claude/assets2/qr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9024" y="2286000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29800" y="32004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System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9829800" y="3794760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QR/badge scanning for classroom check-in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Program It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7" name="Image 1" descr="/home/claude/assets2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202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Mind+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31520" y="3108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Visual, block-based coding for total beginners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85800" y="4572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blocks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401568" y="16459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13" name="Image 2" descr="/home/claude/assets2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9202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872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MicroPython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84448" y="3108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Python scripting for AI &amp; sensor logic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538728" y="4572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538728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python main.py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254496" y="16459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19" name="Image 3" descr="/home/claude/assets2/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19202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91656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IDE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437376" y="3108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C/C++ workflow for makers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391656" y="4572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391656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arduino-cli upload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107424" y="16459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25" name="Image 4" descr="/home/claude/assets2/pl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3264" y="1920240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244584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PlatformIO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290304" y="31089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Pro-grade builds, debugging &amp; CI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244584" y="4572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0242C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244584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pio run --upload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657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/>
        </p:spPr>
      </p:sp>
      <p:sp>
        <p:nvSpPr>
          <p:cNvPr id="4" name="Text 1"/>
          <p:cNvSpPr/>
          <p:nvPr/>
        </p:nvSpPr>
        <p:spPr>
          <a:xfrm>
            <a:off x="804672" y="2651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 The Box &amp; Quick Start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CONTENTS</a:t>
            </a:r>
            <a:endParaRPr lang="en-US" sz="1200" dirty="0"/>
          </a:p>
        </p:txBody>
      </p:sp>
      <p:pic>
        <p:nvPicPr>
          <p:cNvPr id="7" name="Image 1" descr="/home/claude/assets2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1755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UNIHIKER K10 board</a:t>
            </a:r>
            <a:endParaRPr lang="en-US" sz="1200" dirty="0"/>
          </a:p>
        </p:txBody>
      </p:sp>
      <p:pic>
        <p:nvPicPr>
          <p:cNvPr id="9" name="Image 2" descr="/home/claude/assets2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9514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7552" y="2267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USB Type-C cable</a:t>
            </a:r>
            <a:endParaRPr lang="en-US" sz="1200" dirty="0"/>
          </a:p>
        </p:txBody>
      </p:sp>
      <p:pic>
        <p:nvPicPr>
          <p:cNvPr id="11" name="Image 3" descr="/home/claude/assets2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807208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7552" y="27797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Quick-start guide card</a:t>
            </a:r>
            <a:endParaRPr lang="en-US" sz="1200" dirty="0"/>
          </a:p>
        </p:txBody>
      </p:sp>
      <p:pic>
        <p:nvPicPr>
          <p:cNvPr id="13" name="Image 4" descr="/home/claude/assets2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19272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87552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online wiki &amp; courses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48640" y="3922776"/>
            <a:ext cx="4937760" cy="868680"/>
          </a:xfrm>
          <a:prstGeom prst="roundRect">
            <a:avLst>
              <a:gd name="adj" fmla="val 10526"/>
            </a:avLst>
          </a:prstGeom>
          <a:solidFill>
            <a:srgbClr val="1B1F26"/>
          </a:solidFill>
          <a:ln w="15875">
            <a:solidFill>
              <a:srgbClr val="2DD4BF"/>
            </a:solidFill>
            <a:prstDash val="solid"/>
          </a:ln>
        </p:spPr>
      </p:sp>
      <p:pic>
        <p:nvPicPr>
          <p:cNvPr id="16" name="Image 5" descr="/home/claude/assets2/bookop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096512"/>
            <a:ext cx="502920" cy="5029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71600" y="396849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2834640" y="3968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DFRobot &amp; authorized education resellers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6281928" y="1371600"/>
            <a:ext cx="54864" cy="4572000"/>
          </a:xfrm>
          <a:prstGeom prst="roundRect">
            <a:avLst/>
          </a:prstGeom>
          <a:solidFill>
            <a:srgbClr val="2A2F38"/>
          </a:solidFill>
          <a:ln/>
        </p:spPr>
      </p:sp>
      <p:sp>
        <p:nvSpPr>
          <p:cNvPr id="20" name="Text 12"/>
          <p:cNvSpPr/>
          <p:nvPr/>
        </p:nvSpPr>
        <p:spPr>
          <a:xfrm>
            <a:off x="66751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QUICK START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6675120" y="1828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0242C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66751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7424928" y="1801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in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7424928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K10 to your computer with the included USB-C cable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675120" y="27614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0242C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675120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424928" y="273405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Mind+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7424928" y="3035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free Mind+ app and connect to your board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675120" y="369417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0242C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67512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424928" y="36667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run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7424928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your first AI block onto the canvas and hit run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2/dot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— SUMMARY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Board. Every Skill.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274320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helps students learn AI, coding, electronics, and IoT through practical, hands-on projects — combining vision, voice, connectivity and TinyML into one board built for the classroom.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052560" y="123444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23272F"/>
          </a:solidFill>
          <a:ln w="19050">
            <a:solidFill>
              <a:srgbClr val="2A2F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85732" y="1453896"/>
            <a:ext cx="130576" cy="130576"/>
          </a:xfrm>
          <a:prstGeom prst="ellipse">
            <a:avLst/>
          </a:prstGeom>
          <a:solidFill>
            <a:srgbClr val="0D0F1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486260" y="1453896"/>
            <a:ext cx="130576" cy="130576"/>
          </a:xfrm>
          <a:prstGeom prst="ellipse">
            <a:avLst/>
          </a:prstGeom>
          <a:solidFill>
            <a:srgbClr val="0D0F1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379001" y="1728216"/>
            <a:ext cx="1678838" cy="1508760"/>
          </a:xfrm>
          <a:prstGeom prst="roundRect">
            <a:avLst>
              <a:gd name="adj" fmla="val 3030"/>
            </a:avLst>
          </a:prstGeom>
          <a:solidFill>
            <a:srgbClr val="10151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13308" y="1954530"/>
            <a:ext cx="839419" cy="181051"/>
          </a:xfrm>
          <a:prstGeom prst="roundRect">
            <a:avLst>
              <a:gd name="adj" fmla="val 10101"/>
            </a:avLst>
          </a:prstGeom>
          <a:solidFill>
            <a:srgbClr val="2DD4BF"/>
          </a:solidFill>
          <a:ln/>
        </p:spPr>
      </p:sp>
      <p:sp>
        <p:nvSpPr>
          <p:cNvPr id="11" name="Shape 8"/>
          <p:cNvSpPr/>
          <p:nvPr/>
        </p:nvSpPr>
        <p:spPr>
          <a:xfrm>
            <a:off x="9513308" y="2301545"/>
            <a:ext cx="503652" cy="150876"/>
          </a:xfrm>
          <a:prstGeom prst="roundRect">
            <a:avLst>
              <a:gd name="adj" fmla="val 12121"/>
            </a:avLst>
          </a:prstGeom>
          <a:solidFill>
            <a:srgbClr val="FF7A59"/>
          </a:solidFill>
          <a:ln/>
        </p:spPr>
      </p:sp>
      <p:sp>
        <p:nvSpPr>
          <p:cNvPr id="12" name="Shape 9"/>
          <p:cNvSpPr/>
          <p:nvPr/>
        </p:nvSpPr>
        <p:spPr>
          <a:xfrm>
            <a:off x="9513308" y="2603297"/>
            <a:ext cx="1259129" cy="120701"/>
          </a:xfrm>
          <a:prstGeom prst="roundRect">
            <a:avLst>
              <a:gd name="adj" fmla="val 15151"/>
            </a:avLst>
          </a:prstGeom>
          <a:solidFill>
            <a:srgbClr val="343B46"/>
          </a:solidFill>
          <a:ln/>
        </p:spPr>
      </p:sp>
      <p:sp>
        <p:nvSpPr>
          <p:cNvPr id="13" name="Shape 10"/>
          <p:cNvSpPr/>
          <p:nvPr/>
        </p:nvSpPr>
        <p:spPr>
          <a:xfrm>
            <a:off x="9513308" y="2844698"/>
            <a:ext cx="923361" cy="120701"/>
          </a:xfrm>
          <a:prstGeom prst="roundRect">
            <a:avLst>
              <a:gd name="adj" fmla="val 15151"/>
            </a:avLst>
          </a:prstGeom>
          <a:solidFill>
            <a:srgbClr val="343B46"/>
          </a:solidFill>
          <a:ln/>
        </p:spPr>
      </p:sp>
      <p:sp>
        <p:nvSpPr>
          <p:cNvPr id="14" name="Shape 11"/>
          <p:cNvSpPr/>
          <p:nvPr/>
        </p:nvSpPr>
        <p:spPr>
          <a:xfrm>
            <a:off x="8970950" y="1618488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84280" y="1618488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8970950" y="1783080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Shape 14"/>
          <p:cNvSpPr/>
          <p:nvPr/>
        </p:nvSpPr>
        <p:spPr>
          <a:xfrm>
            <a:off x="11384280" y="1783080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5"/>
          <p:cNvSpPr/>
          <p:nvPr/>
        </p:nvSpPr>
        <p:spPr>
          <a:xfrm>
            <a:off x="8970950" y="1947672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Shape 16"/>
          <p:cNvSpPr/>
          <p:nvPr/>
        </p:nvSpPr>
        <p:spPr>
          <a:xfrm>
            <a:off x="11384280" y="1947672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7"/>
          <p:cNvSpPr/>
          <p:nvPr/>
        </p:nvSpPr>
        <p:spPr>
          <a:xfrm>
            <a:off x="8970950" y="2112264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8"/>
          <p:cNvSpPr/>
          <p:nvPr/>
        </p:nvSpPr>
        <p:spPr>
          <a:xfrm>
            <a:off x="11384280" y="2112264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Shape 19"/>
          <p:cNvSpPr/>
          <p:nvPr/>
        </p:nvSpPr>
        <p:spPr>
          <a:xfrm>
            <a:off x="8970950" y="2276856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0"/>
          <p:cNvSpPr/>
          <p:nvPr/>
        </p:nvSpPr>
        <p:spPr>
          <a:xfrm>
            <a:off x="11384280" y="2276856"/>
            <a:ext cx="81610" cy="12344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Shape 21"/>
          <p:cNvSpPr/>
          <p:nvPr/>
        </p:nvSpPr>
        <p:spPr>
          <a:xfrm>
            <a:off x="9379001" y="3538728"/>
            <a:ext cx="419710" cy="192024"/>
          </a:xfrm>
          <a:prstGeom prst="roundRect">
            <a:avLst>
              <a:gd name="adj" fmla="val 142857"/>
            </a:avLst>
          </a:prstGeom>
          <a:solidFill>
            <a:srgbClr val="0D0F12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638130" y="3538728"/>
            <a:ext cx="419710" cy="192024"/>
          </a:xfrm>
          <a:prstGeom prst="roundRect">
            <a:avLst>
              <a:gd name="adj" fmla="val 142857"/>
            </a:avLst>
          </a:prstGeom>
          <a:solidFill>
            <a:srgbClr val="0D0F12"/>
          </a:solidFill>
          <a:ln w="12700">
            <a:solidFill>
              <a:srgbClr val="2A2F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42062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27" name="Image 1" descr="/home/claude/assets2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16552"/>
            <a:ext cx="548640" cy="5486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17320" y="4416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246120" y="42062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0" name="Image 2" descr="/home/claude/assets2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416552"/>
            <a:ext cx="548640" cy="5486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114800" y="4416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5943600" y="42062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3" name="Image 3" descr="/home/claude/assets2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416552"/>
            <a:ext cx="548640" cy="5486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12280" y="4416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WIFI/BT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8641080" y="420624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1B1F26"/>
          </a:solidFill>
          <a:ln w="12700">
            <a:solidFill>
              <a:srgbClr val="2A2F38"/>
            </a:solidFill>
            <a:prstDash val="solid"/>
          </a:ln>
        </p:spPr>
      </p:sp>
      <p:pic>
        <p:nvPicPr>
          <p:cNvPr id="36" name="Image 4" descr="/home/claude/assets2/bra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4416552"/>
            <a:ext cx="548640" cy="5486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09760" y="4416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TINYML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UNIHIKER K10  ·  AI + IoT DATASHEET  ·  REV 2.0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2026-07-24T05:58:17Z</dcterms:created>
  <dcterms:modified xsi:type="dcterms:W3CDTF">2026-07-24T05:58:17Z</dcterms:modified>
</cp:coreProperties>
</file>