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1.png"/><Relationship Id="rId3" Type="http://schemas.openxmlformats.org/officeDocument/2006/relationships/image" Target="../media/image-2-1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1.png"/><Relationship Id="rId3" Type="http://schemas.openxmlformats.org/officeDocument/2006/relationships/image" Target="../media/image-8-1.png"/><Relationship Id="rId4" Type="http://schemas.openxmlformats.org/officeDocument/2006/relationships/image" Target="../media/image-8-1.png"/><Relationship Id="rId5" Type="http://schemas.openxmlformats.org/officeDocument/2006/relationships/image" Target="../media/image-8-1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E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828800"/>
            <a:ext cx="6400800" cy="6400800"/>
          </a:xfrm>
          <a:prstGeom prst="ellipse">
            <a:avLst/>
          </a:prstGeom>
          <a:solidFill>
            <a:srgbClr val="029C8C">
              <a:alpha val="3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114800"/>
            <a:ext cx="5486400" cy="5486400"/>
          </a:xfrm>
          <a:prstGeom prst="ellipse">
            <a:avLst/>
          </a:prstGeom>
          <a:solidFill>
            <a:srgbClr val="00B39E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2E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TINKERING PROJECT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737360"/>
            <a:ext cx="6858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VASC Age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731520" y="278892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D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Health Monitoring System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777240" y="3520440"/>
            <a:ext cx="2011680" cy="0"/>
          </a:xfrm>
          <a:prstGeom prst="line">
            <a:avLst/>
          </a:prstGeom>
          <a:noFill/>
          <a:ln w="25400">
            <a:solidFill>
              <a:srgbClr val="02E6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379476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E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School: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Annasaheb Dhamane Madhyamik Ashram School, Kaman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420624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E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Size: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Students</a:t>
            </a:r>
            <a:endParaRPr lang="en-US" sz="1500" dirty="0"/>
          </a:p>
        </p:txBody>
      </p:sp>
      <p:pic>
        <p:nvPicPr>
          <p:cNvPr id="10" name="Image 0" descr="/home/claude/vasc_age/images/he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868680"/>
            <a:ext cx="393192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2E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E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PROJECT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6492240" cy="4206240"/>
          </a:xfrm>
          <a:prstGeom prst="roundRect">
            <a:avLst>
              <a:gd name="adj" fmla="val 2609"/>
            </a:avLst>
          </a:prstGeom>
          <a:solidFill>
            <a:srgbClr val="12474D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920240"/>
            <a:ext cx="58521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elderly people and patients need regular health monitoring, but checking vital signs frequently can be difficult without visiting a hospital or clinic.</a:t>
            </a:r>
            <a:endParaRPr lang="en-US" sz="1900" dirty="0"/>
          </a:p>
        </p:txBody>
      </p:sp>
      <p:pic>
        <p:nvPicPr>
          <p:cNvPr id="6" name="Image 0" descr="/home/claude/vasc_age/images/icon_check_mi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3794760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3721608"/>
            <a:ext cx="5440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D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Frequent hospital visits are time-consuming and costly</a:t>
            </a:r>
            <a:endParaRPr lang="en-US" sz="1400" dirty="0"/>
          </a:p>
        </p:txBody>
      </p:sp>
      <p:pic>
        <p:nvPicPr>
          <p:cNvPr id="8" name="Image 1" descr="/home/claude/vasc_age/images/icon_check_mi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4389120"/>
            <a:ext cx="256032" cy="25603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25880" y="4315968"/>
            <a:ext cx="5440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D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Elderly and chronically ill patients need continuous tracking</a:t>
            </a:r>
            <a:endParaRPr lang="en-US" sz="1400" dirty="0"/>
          </a:p>
        </p:txBody>
      </p:sp>
      <p:pic>
        <p:nvPicPr>
          <p:cNvPr id="10" name="Image 2" descr="/home/claude/vasc_age/images/icon_check_m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983480"/>
            <a:ext cx="256032" cy="25603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325880" y="4910328"/>
            <a:ext cx="5440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D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checkups can't be done round the clock at home</a:t>
            </a:r>
            <a:endParaRPr lang="en-US" sz="1400" dirty="0"/>
          </a:p>
        </p:txBody>
      </p:sp>
      <p:sp>
        <p:nvSpPr>
          <p:cNvPr id="12" name="Shape 7"/>
          <p:cNvSpPr/>
          <p:nvPr/>
        </p:nvSpPr>
        <p:spPr>
          <a:xfrm>
            <a:off x="7360920" y="1600200"/>
            <a:ext cx="4297680" cy="4206240"/>
          </a:xfrm>
          <a:prstGeom prst="roundRect">
            <a:avLst>
              <a:gd name="adj" fmla="val 2609"/>
            </a:avLst>
          </a:prstGeom>
          <a:solidFill>
            <a:srgbClr val="029C8C"/>
          </a:solidFill>
          <a:ln/>
        </p:spPr>
      </p:sp>
      <p:pic>
        <p:nvPicPr>
          <p:cNvPr id="13" name="Image 3" descr="/home/claude/vasc_age/images/icon_heartbeat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0" y="1965960"/>
            <a:ext cx="1097280" cy="109728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635240" y="320040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Continuous</a:t>
            </a:r>
            <a:endParaRPr lang="en-US" sz="2200" dirty="0"/>
          </a:p>
        </p:txBody>
      </p:sp>
      <p:sp>
        <p:nvSpPr>
          <p:cNvPr id="15" name="Text 9"/>
          <p:cNvSpPr/>
          <p:nvPr/>
        </p:nvSpPr>
        <p:spPr>
          <a:xfrm>
            <a:off x="7635240" y="370332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4F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monitoring shouldn't need</a:t>
            </a:r>
            <a:endParaRPr lang="en-US" sz="14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4F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hospital visit every time</a:t>
            </a:r>
            <a:endParaRPr lang="en-US" sz="1400" dirty="0"/>
          </a:p>
        </p:txBody>
      </p:sp>
      <p:sp>
        <p:nvSpPr>
          <p:cNvPr id="16" name="Text 1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D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VASC Age  |  Smart Health Monitoring System</a:t>
            </a:r>
            <a:endParaRPr lang="en-US" sz="1000" dirty="0"/>
          </a:p>
        </p:txBody>
      </p:sp>
      <p:sp>
        <p:nvSpPr>
          <p:cNvPr id="17" name="Text 1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D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37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E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AIM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i="1" dirty="0">
                <a:solidFill>
                  <a:srgbClr val="CD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design an affordable, portable device that continuously tracks vital signs — helping people monitor their health quickly and accurately, without frequent hospital visits.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2606040" cy="3063240"/>
          </a:xfrm>
          <a:prstGeom prst="roundRect">
            <a:avLst>
              <a:gd name="adj" fmla="val 3509"/>
            </a:avLst>
          </a:prstGeom>
          <a:solidFill>
            <a:srgbClr val="12474D"/>
          </a:solidFill>
          <a:ln/>
        </p:spPr>
      </p:sp>
      <p:sp>
        <p:nvSpPr>
          <p:cNvPr id="6" name="Shape 4"/>
          <p:cNvSpPr/>
          <p:nvPr/>
        </p:nvSpPr>
        <p:spPr>
          <a:xfrm>
            <a:off x="1440180" y="2788920"/>
            <a:ext cx="822960" cy="822960"/>
          </a:xfrm>
          <a:prstGeom prst="ellipse">
            <a:avLst/>
          </a:prstGeom>
          <a:solidFill>
            <a:srgbClr val="029C8C"/>
          </a:solidFill>
          <a:ln/>
        </p:spPr>
      </p:sp>
      <p:pic>
        <p:nvPicPr>
          <p:cNvPr id="7" name="Image 0" descr="/home/claude/vasc_age/images/icon_targe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25346" y="2974086"/>
            <a:ext cx="452628" cy="45262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379476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Accurate Monitoring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31520" y="4343400"/>
            <a:ext cx="22402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FD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reliable heart rate and SpO₂ readings in real time.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468880"/>
            <a:ext cx="2606040" cy="3063240"/>
          </a:xfrm>
          <a:prstGeom prst="roundRect">
            <a:avLst>
              <a:gd name="adj" fmla="val 3509"/>
            </a:avLst>
          </a:prstGeom>
          <a:solidFill>
            <a:srgbClr val="12474D"/>
          </a:solidFill>
          <a:ln/>
        </p:spPr>
      </p:sp>
      <p:sp>
        <p:nvSpPr>
          <p:cNvPr id="11" name="Shape 8"/>
          <p:cNvSpPr/>
          <p:nvPr/>
        </p:nvSpPr>
        <p:spPr>
          <a:xfrm>
            <a:off x="4274820" y="2788920"/>
            <a:ext cx="822960" cy="822960"/>
          </a:xfrm>
          <a:prstGeom prst="ellipse">
            <a:avLst/>
          </a:prstGeom>
          <a:solidFill>
            <a:srgbClr val="029C8C"/>
          </a:solidFill>
          <a:ln/>
        </p:spPr>
      </p:sp>
      <p:pic>
        <p:nvPicPr>
          <p:cNvPr id="12" name="Image 1" descr="/home/claude/vasc_age/images/icon_mobil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9986" y="2974086"/>
            <a:ext cx="452628" cy="45262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20440" y="379476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Portability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3566160" y="4343400"/>
            <a:ext cx="22402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FD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compact device usable at home, school, or camps.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217920" y="2468880"/>
            <a:ext cx="2606040" cy="3063240"/>
          </a:xfrm>
          <a:prstGeom prst="roundRect">
            <a:avLst>
              <a:gd name="adj" fmla="val 3509"/>
            </a:avLst>
          </a:prstGeom>
          <a:solidFill>
            <a:srgbClr val="12474D"/>
          </a:solidFill>
          <a:ln/>
        </p:spPr>
      </p:sp>
      <p:sp>
        <p:nvSpPr>
          <p:cNvPr id="16" name="Shape 12"/>
          <p:cNvSpPr/>
          <p:nvPr/>
        </p:nvSpPr>
        <p:spPr>
          <a:xfrm>
            <a:off x="7109460" y="2788920"/>
            <a:ext cx="822960" cy="822960"/>
          </a:xfrm>
          <a:prstGeom prst="ellipse">
            <a:avLst/>
          </a:prstGeom>
          <a:solidFill>
            <a:srgbClr val="029C8C"/>
          </a:solidFill>
          <a:ln/>
        </p:spPr>
      </p:sp>
      <p:pic>
        <p:nvPicPr>
          <p:cNvPr id="17" name="Image 2" descr="/home/claude/vasc_age/images/icon_cloc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4626" y="2974086"/>
            <a:ext cx="452628" cy="45262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355080" y="379476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Checkups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6400800" y="4343400"/>
            <a:ext cx="22402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FD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down time spent on routine hospital visits.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9052560" y="2468880"/>
            <a:ext cx="2606040" cy="3063240"/>
          </a:xfrm>
          <a:prstGeom prst="roundRect">
            <a:avLst>
              <a:gd name="adj" fmla="val 3509"/>
            </a:avLst>
          </a:prstGeom>
          <a:solidFill>
            <a:srgbClr val="12474D"/>
          </a:solidFill>
          <a:ln/>
        </p:spPr>
      </p:sp>
      <p:sp>
        <p:nvSpPr>
          <p:cNvPr id="21" name="Shape 16"/>
          <p:cNvSpPr/>
          <p:nvPr/>
        </p:nvSpPr>
        <p:spPr>
          <a:xfrm>
            <a:off x="9944100" y="2788920"/>
            <a:ext cx="822960" cy="822960"/>
          </a:xfrm>
          <a:prstGeom prst="ellipse">
            <a:avLst/>
          </a:prstGeom>
          <a:solidFill>
            <a:srgbClr val="029C8C"/>
          </a:solidFill>
          <a:ln/>
        </p:spPr>
      </p:sp>
      <p:pic>
        <p:nvPicPr>
          <p:cNvPr id="22" name="Image 3" descr="/home/claude/vasc_age/images/icon_shield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29266" y="2974086"/>
            <a:ext cx="452628" cy="45262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189720" y="379476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Affordability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9235440" y="4343400"/>
            <a:ext cx="22402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FD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low-cost components for wide accessibility.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D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VASC Age  |  Smart Health Monitoring System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D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2E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E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VASC Age – Smart Health Monitoring System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606040" cy="3063240"/>
          </a:xfrm>
          <a:prstGeom prst="roundRect">
            <a:avLst>
              <a:gd name="adj" fmla="val 3509"/>
            </a:avLst>
          </a:prstGeom>
          <a:solidFill>
            <a:srgbClr val="12474D"/>
          </a:solidFill>
          <a:ln/>
        </p:spPr>
      </p:sp>
      <p:sp>
        <p:nvSpPr>
          <p:cNvPr id="5" name="Shape 3"/>
          <p:cNvSpPr/>
          <p:nvPr/>
        </p:nvSpPr>
        <p:spPr>
          <a:xfrm>
            <a:off x="1440180" y="2148840"/>
            <a:ext cx="822960" cy="822960"/>
          </a:xfrm>
          <a:prstGeom prst="ellipse">
            <a:avLst/>
          </a:prstGeom>
          <a:solidFill>
            <a:srgbClr val="00B39E"/>
          </a:solidFill>
          <a:ln/>
        </p:spPr>
      </p:sp>
      <p:pic>
        <p:nvPicPr>
          <p:cNvPr id="6" name="Image 0" descr="/home/claude/vasc_age/images/icon_heartbea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25346" y="2334006"/>
            <a:ext cx="452628" cy="4526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315468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Heart Rate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31520" y="3703320"/>
            <a:ext cx="22402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FD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Continuously measures pulse (BPM) using an optical sensor.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383280" y="1828800"/>
            <a:ext cx="2606040" cy="3063240"/>
          </a:xfrm>
          <a:prstGeom prst="roundRect">
            <a:avLst>
              <a:gd name="adj" fmla="val 3509"/>
            </a:avLst>
          </a:prstGeom>
          <a:solidFill>
            <a:srgbClr val="12474D"/>
          </a:solidFill>
          <a:ln/>
        </p:spPr>
      </p:sp>
      <p:sp>
        <p:nvSpPr>
          <p:cNvPr id="10" name="Shape 7"/>
          <p:cNvSpPr/>
          <p:nvPr/>
        </p:nvSpPr>
        <p:spPr>
          <a:xfrm>
            <a:off x="4274820" y="2148840"/>
            <a:ext cx="822960" cy="822960"/>
          </a:xfrm>
          <a:prstGeom prst="ellipse">
            <a:avLst/>
          </a:prstGeom>
          <a:solidFill>
            <a:srgbClr val="00B39E"/>
          </a:solidFill>
          <a:ln/>
        </p:spPr>
      </p:sp>
      <p:pic>
        <p:nvPicPr>
          <p:cNvPr id="11" name="Image 1" descr="/home/claude/vasc_age/images/icon_tin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9986" y="2334006"/>
            <a:ext cx="452628" cy="45262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20440" y="315468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Oxygen (SpO₂)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566160" y="3703320"/>
            <a:ext cx="22402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FD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blood oxygen saturation levels instantly.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217920" y="1828800"/>
            <a:ext cx="2606040" cy="3063240"/>
          </a:xfrm>
          <a:prstGeom prst="roundRect">
            <a:avLst>
              <a:gd name="adj" fmla="val 3509"/>
            </a:avLst>
          </a:prstGeom>
          <a:solidFill>
            <a:srgbClr val="12474D"/>
          </a:solidFill>
          <a:ln/>
        </p:spPr>
      </p:sp>
      <p:sp>
        <p:nvSpPr>
          <p:cNvPr id="15" name="Shape 11"/>
          <p:cNvSpPr/>
          <p:nvPr/>
        </p:nvSpPr>
        <p:spPr>
          <a:xfrm>
            <a:off x="7109460" y="2148840"/>
            <a:ext cx="822960" cy="822960"/>
          </a:xfrm>
          <a:prstGeom prst="ellipse">
            <a:avLst/>
          </a:prstGeom>
          <a:solidFill>
            <a:srgbClr val="00B39E"/>
          </a:solidFill>
          <a:ln/>
        </p:spPr>
      </p:sp>
      <p:pic>
        <p:nvPicPr>
          <p:cNvPr id="16" name="Image 2" descr="/home/claude/vasc_age/images/icon_display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4626" y="2334006"/>
            <a:ext cx="452628" cy="45262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55080" y="315468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Data Display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6400800" y="3703320"/>
            <a:ext cx="22402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FD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readings clearly on a connected display.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9052560" y="1828800"/>
            <a:ext cx="2606040" cy="3063240"/>
          </a:xfrm>
          <a:prstGeom prst="roundRect">
            <a:avLst>
              <a:gd name="adj" fmla="val 3509"/>
            </a:avLst>
          </a:prstGeom>
          <a:solidFill>
            <a:srgbClr val="12474D"/>
          </a:solidFill>
          <a:ln/>
        </p:spPr>
      </p:sp>
      <p:sp>
        <p:nvSpPr>
          <p:cNvPr id="20" name="Shape 15"/>
          <p:cNvSpPr/>
          <p:nvPr/>
        </p:nvSpPr>
        <p:spPr>
          <a:xfrm>
            <a:off x="9944100" y="2148840"/>
            <a:ext cx="822960" cy="822960"/>
          </a:xfrm>
          <a:prstGeom prst="ellipse">
            <a:avLst/>
          </a:prstGeom>
          <a:solidFill>
            <a:srgbClr val="00B39E"/>
          </a:solidFill>
          <a:ln/>
        </p:spPr>
      </p:sp>
      <p:pic>
        <p:nvPicPr>
          <p:cNvPr id="21" name="Image 3" descr="/home/claude/vasc_age/images/icon_wifi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29266" y="2334006"/>
            <a:ext cx="452628" cy="45262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189720" y="315468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Portable &amp; Wireless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9235440" y="3703320"/>
            <a:ext cx="22402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FD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Compact, easy-to-use design for monitoring anywhere.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D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VASC Age  |  Smart Health Monitoring System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D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37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E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WORKING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2286000"/>
            <a:ext cx="2286000" cy="2377440"/>
          </a:xfrm>
          <a:prstGeom prst="roundRect">
            <a:avLst>
              <a:gd name="adj" fmla="val 4800"/>
            </a:avLst>
          </a:prstGeom>
          <a:solidFill>
            <a:srgbClr val="029C8C"/>
          </a:solidFill>
          <a:ln/>
        </p:spPr>
      </p:sp>
      <p:sp>
        <p:nvSpPr>
          <p:cNvPr id="5" name="Shape 3"/>
          <p:cNvSpPr/>
          <p:nvPr/>
        </p:nvSpPr>
        <p:spPr>
          <a:xfrm>
            <a:off x="1463040" y="2560320"/>
            <a:ext cx="731520" cy="731520"/>
          </a:xfrm>
          <a:prstGeom prst="ellipse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6" name="Image 0" descr="/home/claude/vasc_age/images/icon_hand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9344" y="2706624"/>
            <a:ext cx="438912" cy="4389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95528" y="235915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" y="3520440"/>
            <a:ext cx="2011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Finger placed on</a:t>
            </a:r>
            <a:endParaRPr lang="en-US" sz="13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MAX30102 sensor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017520" y="3337560"/>
            <a:ext cx="411480" cy="274320"/>
          </a:xfrm>
          <a:prstGeom prst="rightArrow">
            <a:avLst/>
          </a:prstGeom>
          <a:solidFill>
            <a:srgbClr val="02E6B8"/>
          </a:solidFill>
          <a:ln/>
        </p:spPr>
      </p:sp>
      <p:sp>
        <p:nvSpPr>
          <p:cNvPr id="10" name="Shape 7"/>
          <p:cNvSpPr/>
          <p:nvPr/>
        </p:nvSpPr>
        <p:spPr>
          <a:xfrm>
            <a:off x="3474720" y="2286000"/>
            <a:ext cx="2286000" cy="2377440"/>
          </a:xfrm>
          <a:prstGeom prst="roundRect">
            <a:avLst>
              <a:gd name="adj" fmla="val 4800"/>
            </a:avLst>
          </a:prstGeom>
          <a:solidFill>
            <a:srgbClr val="00B39E"/>
          </a:solidFill>
          <a:ln/>
        </p:spPr>
      </p:sp>
      <p:sp>
        <p:nvSpPr>
          <p:cNvPr id="11" name="Shape 8"/>
          <p:cNvSpPr/>
          <p:nvPr/>
        </p:nvSpPr>
        <p:spPr>
          <a:xfrm>
            <a:off x="4251960" y="2560320"/>
            <a:ext cx="731520" cy="731520"/>
          </a:xfrm>
          <a:prstGeom prst="ellipse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12" name="Image 1" descr="/home/claude/vasc_age/images/icon_heartbea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8264" y="2706624"/>
            <a:ext cx="438912" cy="43891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84448" y="235915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3611880" y="3520440"/>
            <a:ext cx="2011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measures</a:t>
            </a:r>
            <a:endParaRPr lang="en-US" sz="13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rate &amp; SpO₂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5806440" y="3337560"/>
            <a:ext cx="411480" cy="274320"/>
          </a:xfrm>
          <a:prstGeom prst="rightArrow">
            <a:avLst/>
          </a:prstGeom>
          <a:solidFill>
            <a:srgbClr val="02E6B8"/>
          </a:solidFill>
          <a:ln/>
        </p:spPr>
      </p:sp>
      <p:sp>
        <p:nvSpPr>
          <p:cNvPr id="16" name="Shape 12"/>
          <p:cNvSpPr/>
          <p:nvPr/>
        </p:nvSpPr>
        <p:spPr>
          <a:xfrm>
            <a:off x="6263640" y="2286000"/>
            <a:ext cx="2286000" cy="2377440"/>
          </a:xfrm>
          <a:prstGeom prst="roundRect">
            <a:avLst>
              <a:gd name="adj" fmla="val 4800"/>
            </a:avLst>
          </a:prstGeom>
          <a:solidFill>
            <a:srgbClr val="029C8C"/>
          </a:solidFill>
          <a:ln/>
        </p:spPr>
      </p:sp>
      <p:sp>
        <p:nvSpPr>
          <p:cNvPr id="17" name="Shape 13"/>
          <p:cNvSpPr/>
          <p:nvPr/>
        </p:nvSpPr>
        <p:spPr>
          <a:xfrm>
            <a:off x="7040880" y="2560320"/>
            <a:ext cx="731520" cy="731520"/>
          </a:xfrm>
          <a:prstGeom prst="ellipse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18" name="Image 2" descr="/home/claude/vasc_age/images/icon_chip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7184" y="2706624"/>
            <a:ext cx="438912" cy="43891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373368" y="235915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6400800" y="3520440"/>
            <a:ext cx="2011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ESP8266 (ESP-01)</a:t>
            </a:r>
            <a:endParaRPr lang="en-US" sz="13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 the data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8595360" y="3337560"/>
            <a:ext cx="411480" cy="274320"/>
          </a:xfrm>
          <a:prstGeom prst="rightArrow">
            <a:avLst/>
          </a:prstGeom>
          <a:solidFill>
            <a:srgbClr val="02E6B8"/>
          </a:solidFill>
          <a:ln/>
        </p:spPr>
      </p:sp>
      <p:sp>
        <p:nvSpPr>
          <p:cNvPr id="22" name="Shape 17"/>
          <p:cNvSpPr/>
          <p:nvPr/>
        </p:nvSpPr>
        <p:spPr>
          <a:xfrm>
            <a:off x="9052560" y="2286000"/>
            <a:ext cx="2286000" cy="2377440"/>
          </a:xfrm>
          <a:prstGeom prst="roundRect">
            <a:avLst>
              <a:gd name="adj" fmla="val 4800"/>
            </a:avLst>
          </a:prstGeom>
          <a:solidFill>
            <a:srgbClr val="00B39E"/>
          </a:solidFill>
          <a:ln/>
        </p:spPr>
      </p:sp>
      <p:sp>
        <p:nvSpPr>
          <p:cNvPr id="23" name="Shape 18"/>
          <p:cNvSpPr/>
          <p:nvPr/>
        </p:nvSpPr>
        <p:spPr>
          <a:xfrm>
            <a:off x="9829800" y="2560320"/>
            <a:ext cx="731520" cy="731520"/>
          </a:xfrm>
          <a:prstGeom prst="ellipse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24" name="Image 3" descr="/home/claude/vasc_age/images/icon_wifi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76104" y="2706624"/>
            <a:ext cx="438912" cy="43891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162288" y="235915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9189720" y="3520440"/>
            <a:ext cx="2011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sent wirelessly /</a:t>
            </a:r>
            <a:endParaRPr lang="en-US" sz="13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shown on display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685800" y="507492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FD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final health readings help users track their vitals quickly, accurately, and without visiting a clinic.</a:t>
            </a:r>
            <a:endParaRPr lang="en-US" sz="1400" dirty="0"/>
          </a:p>
        </p:txBody>
      </p:sp>
      <p:sp>
        <p:nvSpPr>
          <p:cNvPr id="28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D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VASC Age  |  Smart Health Monitoring System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D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2E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E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DIAGRAM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Circuit Connection Overview</a:t>
            </a:r>
            <a:endParaRPr lang="en-US" sz="3200" dirty="0"/>
          </a:p>
        </p:txBody>
      </p:sp>
      <p:pic>
        <p:nvPicPr>
          <p:cNvPr id="4" name="Image 0" descr="/home/claude/vasc_age/images/block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103120"/>
            <a:ext cx="10332720" cy="4343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D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VASC Age  |  Smart Health Monitoring System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D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37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E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Components Used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429000" cy="2331720"/>
          </a:xfrm>
          <a:prstGeom prst="roundRect">
            <a:avLst>
              <a:gd name="adj" fmla="val 3922"/>
            </a:avLst>
          </a:prstGeom>
          <a:solidFill>
            <a:srgbClr val="12474D"/>
          </a:solidFill>
          <a:ln/>
        </p:spPr>
      </p:sp>
      <p:sp>
        <p:nvSpPr>
          <p:cNvPr id="5" name="Shape 3"/>
          <p:cNvSpPr/>
          <p:nvPr/>
        </p:nvSpPr>
        <p:spPr>
          <a:xfrm>
            <a:off x="1348740" y="1783080"/>
            <a:ext cx="1828800" cy="1188720"/>
          </a:xfrm>
          <a:prstGeom prst="roundRect">
            <a:avLst>
              <a:gd name="adj" fmla="val 6154"/>
            </a:avLst>
          </a:prstGeom>
          <a:solidFill>
            <a:srgbClr val="EAF7F5"/>
          </a:solidFill>
          <a:ln/>
        </p:spPr>
      </p:sp>
      <p:pic>
        <p:nvPicPr>
          <p:cNvPr id="6" name="Image 0" descr="/home/claude/vasc_age/images/esp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1620" y="1828800"/>
            <a:ext cx="1463040" cy="10058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306324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ESP-01 ESP8266 Wi-Fi Module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31520" y="352044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FD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 sensor data &amp; enables wireless connectivity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206240" y="1691640"/>
            <a:ext cx="3429000" cy="2331720"/>
          </a:xfrm>
          <a:prstGeom prst="roundRect">
            <a:avLst>
              <a:gd name="adj" fmla="val 3922"/>
            </a:avLst>
          </a:prstGeom>
          <a:solidFill>
            <a:srgbClr val="12474D"/>
          </a:solidFill>
          <a:ln/>
        </p:spPr>
      </p:sp>
      <p:sp>
        <p:nvSpPr>
          <p:cNvPr id="10" name="Shape 7"/>
          <p:cNvSpPr/>
          <p:nvPr/>
        </p:nvSpPr>
        <p:spPr>
          <a:xfrm>
            <a:off x="5006340" y="1783080"/>
            <a:ext cx="1828800" cy="1188720"/>
          </a:xfrm>
          <a:prstGeom prst="roundRect">
            <a:avLst>
              <a:gd name="adj" fmla="val 6154"/>
            </a:avLst>
          </a:prstGeom>
          <a:solidFill>
            <a:srgbClr val="EAF7F5"/>
          </a:solidFill>
          <a:ln/>
        </p:spPr>
      </p:sp>
      <p:pic>
        <p:nvPicPr>
          <p:cNvPr id="11" name="Image 1" descr="/home/claude/vasc_age/images/max3010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9220" y="1828800"/>
            <a:ext cx="1463040" cy="10058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343400" y="306324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MAX30102 Heart Rate &amp; SpO₂ Sensor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389120" y="352044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FD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pulse rate and blood oxygen level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7863840" y="1691640"/>
            <a:ext cx="3429000" cy="2331720"/>
          </a:xfrm>
          <a:prstGeom prst="roundRect">
            <a:avLst>
              <a:gd name="adj" fmla="val 3922"/>
            </a:avLst>
          </a:prstGeom>
          <a:solidFill>
            <a:srgbClr val="12474D"/>
          </a:solidFill>
          <a:ln/>
        </p:spPr>
      </p:sp>
      <p:sp>
        <p:nvSpPr>
          <p:cNvPr id="15" name="Shape 11"/>
          <p:cNvSpPr/>
          <p:nvPr/>
        </p:nvSpPr>
        <p:spPr>
          <a:xfrm>
            <a:off x="8663940" y="1783080"/>
            <a:ext cx="1828800" cy="1188720"/>
          </a:xfrm>
          <a:prstGeom prst="roundRect">
            <a:avLst>
              <a:gd name="adj" fmla="val 6154"/>
            </a:avLst>
          </a:prstGeom>
          <a:solidFill>
            <a:srgbClr val="EAF7F5"/>
          </a:solidFill>
          <a:ln/>
        </p:spPr>
      </p:sp>
      <p:pic>
        <p:nvPicPr>
          <p:cNvPr id="16" name="Image 2" descr="/home/claude/vasc_age/images/breadboar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6820" y="1828800"/>
            <a:ext cx="1463040" cy="10058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001000" y="306324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Breadboard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8046720" y="352044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FD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Solderless board to build the circuit prototype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2377440" y="4251960"/>
            <a:ext cx="3429000" cy="2331720"/>
          </a:xfrm>
          <a:prstGeom prst="roundRect">
            <a:avLst>
              <a:gd name="adj" fmla="val 3922"/>
            </a:avLst>
          </a:prstGeom>
          <a:solidFill>
            <a:srgbClr val="12474D"/>
          </a:solidFill>
          <a:ln/>
        </p:spPr>
      </p:sp>
      <p:sp>
        <p:nvSpPr>
          <p:cNvPr id="20" name="Shape 15"/>
          <p:cNvSpPr/>
          <p:nvPr/>
        </p:nvSpPr>
        <p:spPr>
          <a:xfrm>
            <a:off x="3177540" y="4343400"/>
            <a:ext cx="1828800" cy="1188720"/>
          </a:xfrm>
          <a:prstGeom prst="roundRect">
            <a:avLst>
              <a:gd name="adj" fmla="val 6154"/>
            </a:avLst>
          </a:prstGeom>
          <a:solidFill>
            <a:srgbClr val="EAF7F5"/>
          </a:solidFill>
          <a:ln/>
        </p:spPr>
      </p:sp>
      <p:pic>
        <p:nvPicPr>
          <p:cNvPr id="21" name="Image 3" descr="/home/claude/vasc_age/images/jumperwire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0420" y="4389120"/>
            <a:ext cx="1463040" cy="100584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2514600" y="562356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Jumper Wires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2560320" y="608076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FD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components on the breadboard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6035040" y="4251960"/>
            <a:ext cx="3429000" cy="2331720"/>
          </a:xfrm>
          <a:prstGeom prst="roundRect">
            <a:avLst>
              <a:gd name="adj" fmla="val 3922"/>
            </a:avLst>
          </a:prstGeom>
          <a:solidFill>
            <a:srgbClr val="12474D"/>
          </a:solidFill>
          <a:ln/>
        </p:spPr>
      </p:sp>
      <p:sp>
        <p:nvSpPr>
          <p:cNvPr id="25" name="Shape 19"/>
          <p:cNvSpPr/>
          <p:nvPr/>
        </p:nvSpPr>
        <p:spPr>
          <a:xfrm>
            <a:off x="6835140" y="4343400"/>
            <a:ext cx="1828800" cy="1188720"/>
          </a:xfrm>
          <a:prstGeom prst="roundRect">
            <a:avLst>
              <a:gd name="adj" fmla="val 6154"/>
            </a:avLst>
          </a:prstGeom>
          <a:solidFill>
            <a:srgbClr val="EAF7F5"/>
          </a:solidFill>
          <a:ln/>
        </p:spPr>
      </p:sp>
      <p:pic>
        <p:nvPicPr>
          <p:cNvPr id="26" name="Image 4" descr="/home/claude/vasc_age/images/usbcabl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8020" y="4389120"/>
            <a:ext cx="1463040" cy="100584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172200" y="562356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USB Cable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6217920" y="608076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FD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 the circuit and enables programming</a:t>
            </a:r>
            <a:endParaRPr lang="en-US" sz="1050" dirty="0"/>
          </a:p>
        </p:txBody>
      </p:sp>
      <p:sp>
        <p:nvSpPr>
          <p:cNvPr id="29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D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VASC Age  |  Smart Health Monitoring System</a:t>
            </a:r>
            <a:endParaRPr lang="en-US" sz="1000" dirty="0"/>
          </a:p>
        </p:txBody>
      </p:sp>
      <p:sp>
        <p:nvSpPr>
          <p:cNvPr id="30" name="Text 2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D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2E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E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Advantages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120640" cy="868680"/>
          </a:xfrm>
          <a:prstGeom prst="roundRect">
            <a:avLst>
              <a:gd name="adj" fmla="val 8421"/>
            </a:avLst>
          </a:prstGeom>
          <a:solidFill>
            <a:srgbClr val="12474D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1961388"/>
            <a:ext cx="512064" cy="512064"/>
          </a:xfrm>
          <a:prstGeom prst="ellipse">
            <a:avLst/>
          </a:prstGeom>
          <a:solidFill>
            <a:srgbClr val="02E6B8"/>
          </a:solidFill>
          <a:ln/>
        </p:spPr>
      </p:sp>
      <p:pic>
        <p:nvPicPr>
          <p:cNvPr id="6" name="Image 0" descr="/home/claude/vasc_age/images/icon_chec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08026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783080"/>
            <a:ext cx="4114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quick and accurate health readings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6126480" y="1783080"/>
            <a:ext cx="5120640" cy="868680"/>
          </a:xfrm>
          <a:prstGeom prst="roundRect">
            <a:avLst>
              <a:gd name="adj" fmla="val 8421"/>
            </a:avLst>
          </a:prstGeom>
          <a:solidFill>
            <a:srgbClr val="12474D"/>
          </a:solidFill>
          <a:ln/>
        </p:spPr>
      </p:sp>
      <p:sp>
        <p:nvSpPr>
          <p:cNvPr id="9" name="Shape 6"/>
          <p:cNvSpPr/>
          <p:nvPr/>
        </p:nvSpPr>
        <p:spPr>
          <a:xfrm>
            <a:off x="6327648" y="1961388"/>
            <a:ext cx="512064" cy="512064"/>
          </a:xfrm>
          <a:prstGeom prst="ellipse">
            <a:avLst/>
          </a:prstGeom>
          <a:solidFill>
            <a:srgbClr val="02E6B8"/>
          </a:solidFill>
          <a:ln/>
        </p:spPr>
      </p:sp>
      <p:pic>
        <p:nvPicPr>
          <p:cNvPr id="10" name="Image 1" descr="/home/claude/vasc_age/images/icon_che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208026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995160" y="1783080"/>
            <a:ext cx="4114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Portable and easy to use</a:t>
            </a:r>
            <a:endParaRPr lang="en-US" sz="1450" dirty="0"/>
          </a:p>
        </p:txBody>
      </p:sp>
      <p:sp>
        <p:nvSpPr>
          <p:cNvPr id="12" name="Shape 8"/>
          <p:cNvSpPr/>
          <p:nvPr/>
        </p:nvSpPr>
        <p:spPr>
          <a:xfrm>
            <a:off x="548640" y="2788920"/>
            <a:ext cx="5120640" cy="868680"/>
          </a:xfrm>
          <a:prstGeom prst="roundRect">
            <a:avLst>
              <a:gd name="adj" fmla="val 8421"/>
            </a:avLst>
          </a:prstGeom>
          <a:solidFill>
            <a:srgbClr val="12474D"/>
          </a:solidFill>
          <a:ln/>
        </p:spPr>
      </p:sp>
      <p:sp>
        <p:nvSpPr>
          <p:cNvPr id="13" name="Shape 9"/>
          <p:cNvSpPr/>
          <p:nvPr/>
        </p:nvSpPr>
        <p:spPr>
          <a:xfrm>
            <a:off x="749808" y="2967228"/>
            <a:ext cx="512064" cy="512064"/>
          </a:xfrm>
          <a:prstGeom prst="ellipse">
            <a:avLst/>
          </a:prstGeom>
          <a:solidFill>
            <a:srgbClr val="02E6B8"/>
          </a:solidFill>
          <a:ln/>
        </p:spPr>
      </p:sp>
      <p:pic>
        <p:nvPicPr>
          <p:cNvPr id="14" name="Image 2" descr="/home/claude/vasc_age/images/icon_chec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086100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417320" y="2788920"/>
            <a:ext cx="4114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 in early health monitoring</a:t>
            </a:r>
            <a:endParaRPr lang="en-US" sz="1450" dirty="0"/>
          </a:p>
        </p:txBody>
      </p:sp>
      <p:sp>
        <p:nvSpPr>
          <p:cNvPr id="16" name="Shape 11"/>
          <p:cNvSpPr/>
          <p:nvPr/>
        </p:nvSpPr>
        <p:spPr>
          <a:xfrm>
            <a:off x="6126480" y="2788920"/>
            <a:ext cx="5120640" cy="868680"/>
          </a:xfrm>
          <a:prstGeom prst="roundRect">
            <a:avLst>
              <a:gd name="adj" fmla="val 8421"/>
            </a:avLst>
          </a:prstGeom>
          <a:solidFill>
            <a:srgbClr val="12474D"/>
          </a:solidFill>
          <a:ln/>
        </p:spPr>
      </p:sp>
      <p:sp>
        <p:nvSpPr>
          <p:cNvPr id="17" name="Shape 12"/>
          <p:cNvSpPr/>
          <p:nvPr/>
        </p:nvSpPr>
        <p:spPr>
          <a:xfrm>
            <a:off x="6327648" y="2967228"/>
            <a:ext cx="512064" cy="512064"/>
          </a:xfrm>
          <a:prstGeom prst="ellipse">
            <a:avLst/>
          </a:prstGeom>
          <a:solidFill>
            <a:srgbClr val="02E6B8"/>
          </a:solidFill>
          <a:ln/>
        </p:spPr>
      </p:sp>
      <p:pic>
        <p:nvPicPr>
          <p:cNvPr id="18" name="Image 3" descr="/home/claude/vasc_age/images/icon_check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3086100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95160" y="2788920"/>
            <a:ext cx="4114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Cost-effective solution</a:t>
            </a:r>
            <a:endParaRPr lang="en-US" sz="1450" dirty="0"/>
          </a:p>
        </p:txBody>
      </p:sp>
      <p:sp>
        <p:nvSpPr>
          <p:cNvPr id="20" name="Shape 14"/>
          <p:cNvSpPr/>
          <p:nvPr/>
        </p:nvSpPr>
        <p:spPr>
          <a:xfrm>
            <a:off x="548640" y="3794760"/>
            <a:ext cx="5120640" cy="868680"/>
          </a:xfrm>
          <a:prstGeom prst="roundRect">
            <a:avLst>
              <a:gd name="adj" fmla="val 8421"/>
            </a:avLst>
          </a:prstGeom>
          <a:solidFill>
            <a:srgbClr val="12474D"/>
          </a:solidFill>
          <a:ln/>
        </p:spPr>
      </p:sp>
      <p:sp>
        <p:nvSpPr>
          <p:cNvPr id="21" name="Shape 15"/>
          <p:cNvSpPr/>
          <p:nvPr/>
        </p:nvSpPr>
        <p:spPr>
          <a:xfrm>
            <a:off x="749808" y="3973068"/>
            <a:ext cx="512064" cy="512064"/>
          </a:xfrm>
          <a:prstGeom prst="ellipse">
            <a:avLst/>
          </a:prstGeom>
          <a:solidFill>
            <a:srgbClr val="02E6B8"/>
          </a:solidFill>
          <a:ln/>
        </p:spPr>
      </p:sp>
      <p:pic>
        <p:nvPicPr>
          <p:cNvPr id="22" name="Image 4" descr="/home/claude/vasc_age/images/icon_check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4091940"/>
            <a:ext cx="274320" cy="27432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417320" y="3794760"/>
            <a:ext cx="4114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Suitable for home and healthcare use</a:t>
            </a:r>
            <a:endParaRPr lang="en-US" sz="1450" dirty="0"/>
          </a:p>
        </p:txBody>
      </p:sp>
      <p:sp>
        <p:nvSpPr>
          <p:cNvPr id="24" name="Text 1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D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VASC Age  |  Smart Health Monitoring System</a:t>
            </a:r>
            <a:endParaRPr lang="en-US" sz="1000" dirty="0"/>
          </a:p>
        </p:txBody>
      </p:sp>
      <p:sp>
        <p:nvSpPr>
          <p:cNvPr id="25" name="Text 1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D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37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E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Real-Life Uses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3383280" cy="1965960"/>
          </a:xfrm>
          <a:prstGeom prst="roundRect">
            <a:avLst>
              <a:gd name="adj" fmla="val 4651"/>
            </a:avLst>
          </a:prstGeom>
          <a:solidFill>
            <a:srgbClr val="12474D"/>
          </a:solidFill>
          <a:ln/>
        </p:spPr>
      </p:sp>
      <p:sp>
        <p:nvSpPr>
          <p:cNvPr id="5" name="Shape 3"/>
          <p:cNvSpPr/>
          <p:nvPr/>
        </p:nvSpPr>
        <p:spPr>
          <a:xfrm>
            <a:off x="1993392" y="2011680"/>
            <a:ext cx="768096" cy="768096"/>
          </a:xfrm>
          <a:prstGeom prst="ellipse">
            <a:avLst/>
          </a:prstGeom>
          <a:solidFill>
            <a:srgbClr val="029C8C"/>
          </a:solidFill>
          <a:ln/>
        </p:spPr>
      </p:sp>
      <p:pic>
        <p:nvPicPr>
          <p:cNvPr id="6" name="Image 0" descr="/home/claude/vasc_age/images/icon_hospit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66214" y="2184502"/>
            <a:ext cx="422453" cy="42245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06324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389120" y="1783080"/>
            <a:ext cx="3383280" cy="1965960"/>
          </a:xfrm>
          <a:prstGeom prst="roundRect">
            <a:avLst>
              <a:gd name="adj" fmla="val 4651"/>
            </a:avLst>
          </a:prstGeom>
          <a:solidFill>
            <a:srgbClr val="12474D"/>
          </a:solidFill>
          <a:ln/>
        </p:spPr>
      </p:sp>
      <p:sp>
        <p:nvSpPr>
          <p:cNvPr id="9" name="Shape 6"/>
          <p:cNvSpPr/>
          <p:nvPr/>
        </p:nvSpPr>
        <p:spPr>
          <a:xfrm>
            <a:off x="5696712" y="2011680"/>
            <a:ext cx="768096" cy="768096"/>
          </a:xfrm>
          <a:prstGeom prst="ellipse">
            <a:avLst/>
          </a:prstGeom>
          <a:solidFill>
            <a:srgbClr val="029C8C"/>
          </a:solidFill>
          <a:ln/>
        </p:spPr>
      </p:sp>
      <p:pic>
        <p:nvPicPr>
          <p:cNvPr id="10" name="Image 1" descr="/home/claude/vasc_age/images/icon_clini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9534" y="2184502"/>
            <a:ext cx="422453" cy="42245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26280" y="306324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Clinics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8092440" y="1783080"/>
            <a:ext cx="3383280" cy="1965960"/>
          </a:xfrm>
          <a:prstGeom prst="roundRect">
            <a:avLst>
              <a:gd name="adj" fmla="val 4651"/>
            </a:avLst>
          </a:prstGeom>
          <a:solidFill>
            <a:srgbClr val="12474D"/>
          </a:solidFill>
          <a:ln/>
        </p:spPr>
      </p:sp>
      <p:sp>
        <p:nvSpPr>
          <p:cNvPr id="13" name="Shape 9"/>
          <p:cNvSpPr/>
          <p:nvPr/>
        </p:nvSpPr>
        <p:spPr>
          <a:xfrm>
            <a:off x="9400032" y="2011680"/>
            <a:ext cx="768096" cy="768096"/>
          </a:xfrm>
          <a:prstGeom prst="ellipse">
            <a:avLst/>
          </a:prstGeom>
          <a:solidFill>
            <a:srgbClr val="029C8C"/>
          </a:solidFill>
          <a:ln/>
        </p:spPr>
      </p:sp>
      <p:pic>
        <p:nvPicPr>
          <p:cNvPr id="14" name="Image 2" descr="/home/claude/vasc_age/images/icon_hom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72854" y="2184502"/>
            <a:ext cx="422453" cy="422453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229600" y="306324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Homes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685800" y="4023360"/>
            <a:ext cx="3383280" cy="1965960"/>
          </a:xfrm>
          <a:prstGeom prst="roundRect">
            <a:avLst>
              <a:gd name="adj" fmla="val 4651"/>
            </a:avLst>
          </a:prstGeom>
          <a:solidFill>
            <a:srgbClr val="12474D"/>
          </a:solidFill>
          <a:ln/>
        </p:spPr>
      </p:sp>
      <p:sp>
        <p:nvSpPr>
          <p:cNvPr id="17" name="Shape 12"/>
          <p:cNvSpPr/>
          <p:nvPr/>
        </p:nvSpPr>
        <p:spPr>
          <a:xfrm>
            <a:off x="1993392" y="4251960"/>
            <a:ext cx="768096" cy="768096"/>
          </a:xfrm>
          <a:prstGeom prst="ellipse">
            <a:avLst/>
          </a:prstGeom>
          <a:solidFill>
            <a:srgbClr val="029C8C"/>
          </a:solidFill>
          <a:ln/>
        </p:spPr>
      </p:sp>
      <p:pic>
        <p:nvPicPr>
          <p:cNvPr id="18" name="Image 3" descr="/home/claude/vasc_age/images/icon_cam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66214" y="4424782"/>
            <a:ext cx="422453" cy="422453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22960" y="530352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Camps</a:t>
            </a:r>
            <a:endParaRPr lang="en-US" sz="1400" dirty="0"/>
          </a:p>
        </p:txBody>
      </p:sp>
      <p:sp>
        <p:nvSpPr>
          <p:cNvPr id="20" name="Shape 14"/>
          <p:cNvSpPr/>
          <p:nvPr/>
        </p:nvSpPr>
        <p:spPr>
          <a:xfrm>
            <a:off x="4389120" y="4023360"/>
            <a:ext cx="3383280" cy="1965960"/>
          </a:xfrm>
          <a:prstGeom prst="roundRect">
            <a:avLst>
              <a:gd name="adj" fmla="val 4651"/>
            </a:avLst>
          </a:prstGeom>
          <a:solidFill>
            <a:srgbClr val="12474D"/>
          </a:solidFill>
          <a:ln/>
        </p:spPr>
      </p:sp>
      <p:sp>
        <p:nvSpPr>
          <p:cNvPr id="21" name="Shape 15"/>
          <p:cNvSpPr/>
          <p:nvPr/>
        </p:nvSpPr>
        <p:spPr>
          <a:xfrm>
            <a:off x="5696712" y="4251960"/>
            <a:ext cx="768096" cy="768096"/>
          </a:xfrm>
          <a:prstGeom prst="ellipse">
            <a:avLst/>
          </a:prstGeom>
          <a:solidFill>
            <a:srgbClr val="029C8C"/>
          </a:solidFill>
          <a:ln/>
        </p:spPr>
      </p:sp>
      <p:pic>
        <p:nvPicPr>
          <p:cNvPr id="22" name="Image 4" descr="/home/claude/vasc_age/images/icon_elderl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69534" y="4424782"/>
            <a:ext cx="422453" cy="422453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4526280" y="530352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Elderly Care Centers</a:t>
            </a:r>
            <a:endParaRPr lang="en-US" sz="1400" dirty="0"/>
          </a:p>
        </p:txBody>
      </p:sp>
      <p:sp>
        <p:nvSpPr>
          <p:cNvPr id="24" name="Shape 17"/>
          <p:cNvSpPr/>
          <p:nvPr/>
        </p:nvSpPr>
        <p:spPr>
          <a:xfrm>
            <a:off x="8092440" y="4023360"/>
            <a:ext cx="3383280" cy="1965960"/>
          </a:xfrm>
          <a:prstGeom prst="roundRect">
            <a:avLst>
              <a:gd name="adj" fmla="val 4651"/>
            </a:avLst>
          </a:prstGeom>
          <a:solidFill>
            <a:srgbClr val="12474D"/>
          </a:solidFill>
          <a:ln/>
        </p:spPr>
      </p:sp>
      <p:sp>
        <p:nvSpPr>
          <p:cNvPr id="25" name="Shape 18"/>
          <p:cNvSpPr/>
          <p:nvPr/>
        </p:nvSpPr>
        <p:spPr>
          <a:xfrm>
            <a:off x="9400032" y="4251960"/>
            <a:ext cx="768096" cy="768096"/>
          </a:xfrm>
          <a:prstGeom prst="ellipse">
            <a:avLst/>
          </a:prstGeom>
          <a:solidFill>
            <a:srgbClr val="029C8C"/>
          </a:solidFill>
          <a:ln/>
        </p:spPr>
      </p:sp>
      <p:pic>
        <p:nvPicPr>
          <p:cNvPr id="26" name="Image 5" descr="/home/claude/vasc_age/images/icon_school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72854" y="4424782"/>
            <a:ext cx="422453" cy="422453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8229600" y="530352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Schools for Health Check-ups</a:t>
            </a:r>
            <a:endParaRPr lang="en-US" sz="1400" dirty="0"/>
          </a:p>
        </p:txBody>
      </p:sp>
      <p:sp>
        <p:nvSpPr>
          <p:cNvPr id="28" name="Text 2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D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VASC Age  |  Smart Health Monitoring System</a:t>
            </a:r>
            <a:endParaRPr lang="en-US" sz="1000" dirty="0"/>
          </a:p>
        </p:txBody>
      </p:sp>
      <p:sp>
        <p:nvSpPr>
          <p:cNvPr id="29" name="Text 2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D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2E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6400800" cy="6400800"/>
          </a:xfrm>
          <a:prstGeom prst="ellipse">
            <a:avLst/>
          </a:prstGeom>
          <a:solidFill>
            <a:srgbClr val="029C8C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686800" y="3200400"/>
            <a:ext cx="5486400" cy="5486400"/>
          </a:xfrm>
          <a:prstGeom prst="ellipse">
            <a:avLst/>
          </a:prstGeom>
          <a:solidFill>
            <a:srgbClr val="00B39E">
              <a:alpha val="22000"/>
            </a:srgbClr>
          </a:solidFill>
          <a:ln/>
        </p:spPr>
      </p:sp>
      <p:pic>
        <p:nvPicPr>
          <p:cNvPr id="4" name="Image 0" descr="/home/claude/vasc_age/images/icon_heartbea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37276" y="1463040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0" y="2514600"/>
            <a:ext cx="121889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0" y="342900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CD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VASC Age — Smart Health Monitoring System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0" y="420624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E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Annasaheb Dhamane Madhyamik Ashram School, Kaman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VASC Age - Smart Health Monitoring System</dc:title>
  <dc:subject>PptxGenJS Presentation</dc:subject>
  <dc:creator>Annasaheb Dhamane Madhyamik Ashram School, Kaman</dc:creator>
  <cp:lastModifiedBy>Annasaheb Dhamane Madhyamik Ashram School, Kaman</cp:lastModifiedBy>
  <cp:revision>1</cp:revision>
  <dcterms:created xsi:type="dcterms:W3CDTF">2026-07-08T06:31:14Z</dcterms:created>
  <dcterms:modified xsi:type="dcterms:W3CDTF">2026-07-08T06:31:14Z</dcterms:modified>
</cp:coreProperties>
</file>